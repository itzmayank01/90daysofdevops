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74" r:id="rId4"/>
    <p:sldId id="258" r:id="rId5"/>
    <p:sldId id="259" r:id="rId6"/>
    <p:sldId id="260" r:id="rId7"/>
    <p:sldId id="275" r:id="rId8"/>
    <p:sldId id="261" r:id="rId9"/>
    <p:sldId id="262" r:id="rId10"/>
    <p:sldId id="263" r:id="rId11"/>
    <p:sldId id="264" r:id="rId12"/>
    <p:sldId id="276" r:id="rId13"/>
    <p:sldId id="265" r:id="rId14"/>
    <p:sldId id="277" r:id="rId15"/>
    <p:sldId id="266" r:id="rId16"/>
    <p:sldId id="278" r:id="rId17"/>
    <p:sldId id="279" r:id="rId18"/>
    <p:sldId id="272" r:id="rId19"/>
    <p:sldId id="273"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27"/>
    <p:restoredTop sz="52215"/>
  </p:normalViewPr>
  <p:slideViewPr>
    <p:cSldViewPr snapToGrid="0" snapToObjects="1">
      <p:cViewPr varScale="1">
        <p:scale>
          <a:sx n="86" d="100"/>
          <a:sy n="86" d="100"/>
        </p:scale>
        <p:origin x="2512" y="184"/>
      </p:cViewPr>
      <p:guideLst/>
    </p:cSldViewPr>
  </p:slideViewPr>
  <p:notesTextViewPr>
    <p:cViewPr>
      <p:scale>
        <a:sx n="170" d="100"/>
        <a:sy n="17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5555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our topic is </a:t>
            </a:r>
            <a:r>
              <a:rPr lang="en-US" dirty="0" err="1"/>
              <a:t>Buisness</a:t>
            </a:r>
            <a:r>
              <a:rPr lang="en-US" dirty="0"/>
              <a:t> Need for </a:t>
            </a:r>
            <a:r>
              <a:rPr lang="en-US" dirty="0" err="1"/>
              <a:t>devops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Slide 2 – What We Cover</a:t>
            </a:r>
          </a:p>
          <a:p>
            <a:endParaRPr lang="en-US" b="1" dirty="0"/>
          </a:p>
          <a:p>
            <a:r>
              <a:rPr lang="en-US" dirty="0"/>
              <a:t>First, we’ll understand why DevOps was needed </a:t>
            </a:r>
          </a:p>
          <a:p>
            <a:r>
              <a:rPr lang="en-US" dirty="0"/>
              <a:t>Then, what DevOps actually means in real-world terms </a:t>
            </a:r>
          </a:p>
          <a:p>
            <a:r>
              <a:rPr lang="en-US" dirty="0"/>
              <a:t>After that, we’ll go through the lifecycle step by step </a:t>
            </a:r>
          </a:p>
          <a:p>
            <a:r>
              <a:rPr lang="en-US" dirty="0"/>
              <a:t>We’ll look at real-world companies using DevOps </a:t>
            </a:r>
          </a:p>
          <a:p>
            <a:r>
              <a:rPr lang="en-US" dirty="0"/>
              <a:t>Then key pillars like CI/CD, automation, and culture </a:t>
            </a:r>
          </a:p>
          <a:p>
            <a:r>
              <a:rPr lang="en-US" dirty="0"/>
              <a:t>Finally, business impact and comparison before vs after DevOps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b="1" dirty="0"/>
              <a:t>Slide 3 – Market Demand for DevOps</a:t>
            </a:r>
          </a:p>
          <a:p>
            <a:r>
              <a:rPr lang="en-US" dirty="0"/>
              <a:t>Today, apps need updates very frequently </a:t>
            </a:r>
          </a:p>
          <a:p>
            <a:r>
              <a:rPr lang="en-US" dirty="0"/>
              <a:t>Earlier updates were slow, now speed is important </a:t>
            </a:r>
          </a:p>
          <a:p>
            <a:r>
              <a:rPr lang="en-US" dirty="0"/>
              <a:t>Cloud and Agile are widely used now </a:t>
            </a:r>
          </a:p>
          <a:p>
            <a:r>
              <a:rPr lang="en-US" dirty="0"/>
              <a:t>Companies like Amazon and Netflix deploy very fast </a:t>
            </a:r>
          </a:p>
          <a:p>
            <a:r>
              <a:rPr lang="en-US" dirty="0"/>
              <a:t>DevOps engineers are highly in demand </a:t>
            </a:r>
          </a:p>
          <a:p>
            <a:r>
              <a:rPr lang="en-US" dirty="0"/>
              <a:t>So DevOps is now necessary, not optional</a:t>
            </a:r>
          </a:p>
          <a:p>
            <a:endParaRPr lang="en-US" dirty="0"/>
          </a:p>
        </p:txBody>
      </p:sp>
    </p:spTree>
    <p:extLst>
      <p:ext uri="{BB962C8B-B14F-4D97-AF65-F5344CB8AC3E}">
        <p14:creationId xmlns:p14="http://schemas.microsoft.com/office/powerpoint/2010/main" val="4705694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Slide – Business Reality of DevOps (Natural Flow)</a:t>
            </a:r>
          </a:p>
          <a:p>
            <a:r>
              <a:rPr lang="en-US" dirty="0"/>
              <a:t>In today’s business environment, speed has become a competitive advantage </a:t>
            </a:r>
          </a:p>
          <a:p>
            <a:r>
              <a:rPr lang="en-US" dirty="0"/>
              <a:t>Companies can’t afford slow releases anymore — users expect quick updates </a:t>
            </a:r>
          </a:p>
          <a:p>
            <a:r>
              <a:rPr lang="en-US" dirty="0"/>
              <a:t>If a company is slow, users can easily switch to competitors </a:t>
            </a:r>
          </a:p>
          <a:p>
            <a:r>
              <a:rPr lang="en-US" dirty="0"/>
              <a:t>That’s why businesses need faster development and reliable deployments </a:t>
            </a:r>
          </a:p>
          <a:p>
            <a:r>
              <a:rPr lang="en-US" dirty="0"/>
              <a:t>Companies like Amazon and Netflix release updates very frequently to stay ahead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4 – What DevOps Actually Means </a:t>
            </a:r>
          </a:p>
          <a:p>
            <a:r>
              <a:rPr lang="en-US" dirty="0"/>
              <a:t> </a:t>
            </a:r>
          </a:p>
          <a:p>
            <a:r>
              <a:rPr lang="en-US" dirty="0"/>
              <a:t> DevOps = Development + Operations working together</a:t>
            </a:r>
          </a:p>
          <a:p>
            <a:r>
              <a:rPr lang="en-US" dirty="0"/>
              <a:t> No separate teams, everything is collaborative </a:t>
            </a:r>
          </a:p>
          <a:p>
            <a:r>
              <a:rPr lang="en-US" dirty="0"/>
              <a:t> Goal is faster and stable delivery </a:t>
            </a:r>
          </a:p>
          <a:p>
            <a:r>
              <a:rPr lang="en-US" dirty="0"/>
              <a:t> Focus on automation and continuous improvement </a:t>
            </a:r>
          </a:p>
          <a:p>
            <a:r>
              <a:rPr lang="en-US" dirty="0"/>
              <a:t> It’s not just tools — it’s a mindset improve there wording not look like </a:t>
            </a:r>
            <a:r>
              <a:rPr lang="en-US" dirty="0" err="1"/>
              <a:t>i</a:t>
            </a:r>
            <a:r>
              <a:rPr lang="en-US" dirty="0"/>
              <a:t> am reading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5 – DevOps Lifecycle </a:t>
            </a:r>
          </a:p>
          <a:p>
            <a:endParaRPr lang="en-US" b="1" dirty="0"/>
          </a:p>
          <a:p>
            <a:r>
              <a:rPr lang="en-US" dirty="0"/>
              <a:t>so DevOps lifecycle is like a continuous loop… not one-time process </a:t>
            </a:r>
          </a:p>
          <a:p>
            <a:r>
              <a:rPr lang="en-US" dirty="0"/>
              <a:t>it starts with planning… where requirements are decided </a:t>
            </a:r>
          </a:p>
          <a:p>
            <a:r>
              <a:rPr lang="en-US" dirty="0"/>
              <a:t>then developers write code </a:t>
            </a:r>
          </a:p>
          <a:p>
            <a:r>
              <a:rPr lang="en-US" dirty="0"/>
              <a:t>after that build phase… code is compiled and packaged </a:t>
            </a:r>
          </a:p>
          <a:p>
            <a:r>
              <a:rPr lang="en-US" dirty="0"/>
              <a:t>then testing happens… to catch bugs early before release </a:t>
            </a:r>
          </a:p>
          <a:p>
            <a:r>
              <a:rPr lang="en-US" dirty="0"/>
              <a:t>next is deployment… code goes to production </a:t>
            </a:r>
          </a:p>
          <a:p>
            <a:r>
              <a:rPr lang="en-US" dirty="0"/>
              <a:t>after deployment monitoring starts… to track performance </a:t>
            </a:r>
          </a:p>
          <a:p>
            <a:r>
              <a:rPr lang="en-US" dirty="0"/>
              <a:t>feedback comes from users and system… and goes back to planning again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b="1" dirty="0"/>
              <a:t>🔹 Slide 6 – Collaboration</a:t>
            </a:r>
          </a:p>
          <a:p>
            <a:r>
              <a:rPr lang="en-US" dirty="0"/>
              <a:t>earlier dev and ops used to blame each other </a:t>
            </a:r>
          </a:p>
          <a:p>
            <a:r>
              <a:rPr lang="en-US" dirty="0"/>
              <a:t>now both work together from start </a:t>
            </a:r>
          </a:p>
          <a:p>
            <a:r>
              <a:rPr lang="en-US" dirty="0"/>
              <a:t>deployment is shared responsibility </a:t>
            </a:r>
          </a:p>
          <a:p>
            <a:r>
              <a:rPr lang="en-US" dirty="0"/>
              <a:t>problems are solved as a team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overall communication improves a lot </a:t>
            </a:r>
          </a:p>
          <a:p>
            <a:endParaRPr lang="en-US" dirty="0"/>
          </a:p>
        </p:txBody>
      </p:sp>
    </p:spTree>
    <p:extLst>
      <p:ext uri="{BB962C8B-B14F-4D97-AF65-F5344CB8AC3E}">
        <p14:creationId xmlns:p14="http://schemas.microsoft.com/office/powerpoint/2010/main" val="30375860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Slide 7 – Real-World Case: Netflix &amp; Amazon</a:t>
            </a:r>
          </a:p>
          <a:p>
            <a:r>
              <a:rPr lang="en-US" dirty="0"/>
              <a:t>* Netflix uses DevOps to manage hundreds of microservices </a:t>
            </a:r>
          </a:p>
          <a:p>
            <a:r>
              <a:rPr lang="en-US" dirty="0"/>
              <a:t>* They deploy updates frequently without downtime </a:t>
            </a:r>
          </a:p>
          <a:p>
            <a:r>
              <a:rPr lang="en-US" dirty="0"/>
              <a:t>* Amazon deploys changes every few seconds </a:t>
            </a:r>
          </a:p>
          <a:p>
            <a:r>
              <a:rPr lang="en-US" dirty="0"/>
              <a:t>* These companies rely heavily on automation and monitoring </a:t>
            </a:r>
          </a:p>
          <a:p>
            <a:r>
              <a:rPr lang="en-US" dirty="0"/>
              <a:t>* Without DevOps, managing this scale would not be possible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Slide 8 – CI/CD         (</a:t>
            </a:r>
            <a:r>
              <a:rPr lang="en-US" dirty="0"/>
              <a:t>continuous integration continuous delivery)</a:t>
            </a:r>
          </a:p>
          <a:p>
            <a:pPr lvl="1"/>
            <a:r>
              <a:rPr lang="en-US" dirty="0"/>
              <a:t>*so whenever a developer pushes code… pipeline automatically starts </a:t>
            </a:r>
          </a:p>
          <a:p>
            <a:pPr lvl="1"/>
            <a:r>
              <a:rPr lang="en-US" dirty="0"/>
              <a:t>*first step is build… where code is compiled and artifact is created like docker image </a:t>
            </a:r>
          </a:p>
          <a:p>
            <a:pPr lvl="1"/>
            <a:r>
              <a:rPr lang="en-US" dirty="0"/>
              <a:t>*after that automated tests run… unit tests + integration tests to catch bugs early </a:t>
            </a:r>
          </a:p>
          <a:p>
            <a:pPr lvl="1"/>
            <a:r>
              <a:rPr lang="en-US" dirty="0"/>
              <a:t>*along with that security scans also happen… like checking vulnerabilities </a:t>
            </a:r>
          </a:p>
          <a:p>
            <a:pPr lvl="1"/>
            <a:r>
              <a:rPr lang="en-US" dirty="0"/>
              <a:t>*if everything passes… code moves from staging to production environment f</a:t>
            </a:r>
          </a:p>
          <a:p>
            <a:pPr lvl="1"/>
            <a:r>
              <a:rPr lang="en-US" dirty="0"/>
              <a:t>*then final deployment happens in production </a:t>
            </a:r>
          </a:p>
          <a:p>
            <a:pPr lvl="1"/>
            <a:r>
              <a:rPr lang="en-US" dirty="0"/>
              <a:t>*we can  use strategies like blue-green or canary to avoid risk </a:t>
            </a:r>
          </a:p>
          <a:p>
            <a:pPr lvl="1"/>
            <a:r>
              <a:rPr lang="en-US" dirty="0"/>
              <a:t>*whole pipeline is automated… no need of manual intervention </a:t>
            </a:r>
          </a:p>
          <a:p>
            <a:endParaRPr lang="en-US" dirty="0"/>
          </a:p>
          <a:p>
            <a:r>
              <a:rPr lang="en-US" dirty="0"/>
              <a:t>👉 developer pushes code → pipeline triggers → build → test → deploy </a:t>
            </a:r>
          </a:p>
          <a:p>
            <a:r>
              <a:rPr lang="en-US" dirty="0"/>
              <a:t>👉 earlier this process used to take days… now it happens in minutes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Slide 9 – Automation &amp; Culture</a:t>
            </a:r>
          </a:p>
          <a:p>
            <a:pPr lvl="1"/>
            <a:r>
              <a:rPr lang="en-US" dirty="0"/>
              <a:t>DevOps is built on two things: automation and culture </a:t>
            </a:r>
          </a:p>
          <a:p>
            <a:pPr lvl="1"/>
            <a:r>
              <a:rPr lang="en-US" dirty="0"/>
              <a:t>Automation reduces manual work using tools like Terraform and ansible </a:t>
            </a:r>
          </a:p>
          <a:p>
            <a:pPr lvl="1"/>
            <a:r>
              <a:rPr lang="en-US" dirty="0"/>
              <a:t>Testing is automated to ensure quality </a:t>
            </a:r>
          </a:p>
          <a:p>
            <a:pPr lvl="1"/>
            <a:r>
              <a:rPr lang="en-US" dirty="0"/>
              <a:t>Kubernetes --- orchestration that helps manage containers and auto scaling </a:t>
            </a:r>
          </a:p>
          <a:p>
            <a:pPr lvl="1"/>
            <a:r>
              <a:rPr lang="en-US" dirty="0"/>
              <a:t>Configuration stays consistent across environments</a:t>
            </a:r>
          </a:p>
          <a:p>
            <a:pPr lvl="1"/>
            <a:r>
              <a:rPr lang="en-US" dirty="0"/>
              <a:t> </a:t>
            </a:r>
          </a:p>
          <a:p>
            <a:pPr lvl="1"/>
            <a:r>
              <a:rPr lang="en-US" b="1" dirty="0"/>
              <a:t>Culture part:</a:t>
            </a:r>
          </a:p>
          <a:p>
            <a:pPr lvl="1"/>
            <a:r>
              <a:rPr lang="en-US" dirty="0"/>
              <a:t>Teams share ownership</a:t>
            </a:r>
          </a:p>
          <a:p>
            <a:pPr lvl="1"/>
            <a:r>
              <a:rPr lang="en-US" dirty="0"/>
              <a:t>No blame — only improvement </a:t>
            </a:r>
          </a:p>
          <a:p>
            <a:pPr lvl="1"/>
            <a:r>
              <a:rPr lang="en-US" dirty="0"/>
              <a:t>Everyone works together from development to deployment </a:t>
            </a:r>
          </a:p>
          <a:p>
            <a:pPr lvl="1"/>
            <a:endParaRPr lang="en-US" dirty="0"/>
          </a:p>
          <a:p>
            <a:pPr lvl="1"/>
            <a:r>
              <a:rPr lang="en-US" dirty="0"/>
              <a:t>👉 Example:</a:t>
            </a:r>
          </a:p>
          <a:p>
            <a:pPr lvl="1"/>
            <a:r>
              <a:rPr lang="en-US" dirty="0"/>
              <a:t>If a bug occurs, whole team fixes it instead of blaming</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Slide 10 – Monitoring &amp; Observability</a:t>
            </a:r>
          </a:p>
          <a:p>
            <a:endParaRPr lang="en-US" b="1" dirty="0"/>
          </a:p>
          <a:p>
            <a:pPr lvl="1"/>
            <a:r>
              <a:rPr lang="en-US" dirty="0"/>
              <a:t>Monitoring -- helps track system performance in real time </a:t>
            </a:r>
          </a:p>
          <a:p>
            <a:pPr lvl="1"/>
            <a:r>
              <a:rPr lang="en-US" dirty="0"/>
              <a:t>Tools like Prometheus collect metrics like CPU usage </a:t>
            </a:r>
          </a:p>
          <a:p>
            <a:pPr lvl="1"/>
            <a:r>
              <a:rPr lang="en-US" dirty="0"/>
              <a:t>Grafana -- shows dashboards for visualization </a:t>
            </a:r>
          </a:p>
          <a:p>
            <a:pPr lvl="1"/>
            <a:r>
              <a:rPr lang="en-US" dirty="0"/>
              <a:t>ELK -- is used for stack handles logs </a:t>
            </a:r>
          </a:p>
          <a:p>
            <a:pPr lvl="1"/>
            <a:r>
              <a:rPr lang="en-US" dirty="0"/>
              <a:t>PagerDuty -- sends alerts only when necessary </a:t>
            </a:r>
          </a:p>
          <a:p>
            <a:pPr lvl="1"/>
            <a:r>
              <a:rPr lang="en-US" dirty="0"/>
              <a:t>Jaeger helps trace requests across services</a:t>
            </a:r>
          </a:p>
          <a:p>
            <a:pPr lvl="1"/>
            <a:endParaRPr lang="en-US" dirty="0"/>
          </a:p>
          <a:p>
            <a:pPr lvl="1"/>
            <a:r>
              <a:rPr lang="en-US" dirty="0"/>
              <a:t>👉 result:</a:t>
            </a:r>
          </a:p>
          <a:p>
            <a:pPr lvl="1"/>
            <a:r>
              <a:rPr lang="en-US" dirty="0"/>
              <a:t>faster recovery, less downtime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b="1" dirty="0"/>
              <a:t>🔹 Slide 11 – Cost Efficiency</a:t>
            </a:r>
          </a:p>
          <a:p>
            <a:pPr lvl="1"/>
            <a:endParaRPr lang="en-US" b="1" dirty="0"/>
          </a:p>
          <a:p>
            <a:pPr lvl="1"/>
            <a:r>
              <a:rPr lang="en-US" dirty="0"/>
              <a:t>*automation saves time and effort </a:t>
            </a:r>
          </a:p>
          <a:p>
            <a:pPr lvl="1"/>
            <a:r>
              <a:rPr lang="en-US" dirty="0"/>
              <a:t>* It help in early bug detection and  reduces cost </a:t>
            </a:r>
          </a:p>
          <a:p>
            <a:pPr lvl="1"/>
            <a:r>
              <a:rPr lang="en-US" dirty="0"/>
              <a:t>*cloud scaling avoids wastage of  resources </a:t>
            </a:r>
          </a:p>
          <a:p>
            <a:pPr lvl="1"/>
            <a:r>
              <a:rPr lang="en-US" dirty="0"/>
              <a:t>*monitoring prevents major failures and downtime</a:t>
            </a:r>
          </a:p>
          <a:p>
            <a:endParaRPr lang="en-US" dirty="0"/>
          </a:p>
        </p:txBody>
      </p:sp>
    </p:spTree>
    <p:extLst>
      <p:ext uri="{BB962C8B-B14F-4D97-AF65-F5344CB8AC3E}">
        <p14:creationId xmlns:p14="http://schemas.microsoft.com/office/powerpoint/2010/main" val="12906712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dirty="0"/>
              <a:t>DevOps gives measurable improvements… </a:t>
            </a:r>
          </a:p>
          <a:p>
            <a:pPr lvl="1"/>
            <a:r>
              <a:rPr lang="en-US" dirty="0"/>
              <a:t>companies deploy way more frequently </a:t>
            </a:r>
          </a:p>
          <a:p>
            <a:pPr lvl="1"/>
            <a:r>
              <a:rPr lang="en-US" dirty="0"/>
              <a:t>recovery from failures becomes very fast </a:t>
            </a:r>
          </a:p>
          <a:p>
            <a:pPr lvl="1"/>
            <a:r>
              <a:rPr lang="en-US" dirty="0"/>
              <a:t>failure rates are much lower </a:t>
            </a:r>
          </a:p>
          <a:p>
            <a:pPr lvl="1"/>
            <a:r>
              <a:rPr lang="en-US" dirty="0"/>
              <a:t>features are delivered quickly </a:t>
            </a:r>
          </a:p>
          <a:p>
            <a:pPr lvl="1"/>
            <a:r>
              <a:rPr lang="en-US" dirty="0"/>
              <a:t>👉 </a:t>
            </a:r>
          </a:p>
          <a:p>
            <a:pPr lvl="1"/>
            <a:r>
              <a:rPr lang="en-US" dirty="0"/>
              <a:t>200+ times more deployments </a:t>
            </a:r>
          </a:p>
          <a:p>
            <a:pPr lvl="1"/>
            <a:r>
              <a:rPr lang="en-US" dirty="0"/>
              <a:t>2600+ times faster recovery </a:t>
            </a:r>
          </a:p>
          <a:p>
            <a:pPr lvl="1"/>
            <a:r>
              <a:rPr lang="en-US" dirty="0"/>
              <a:t>👉 example:</a:t>
            </a:r>
          </a:p>
          <a:p>
            <a:pPr lvl="1"/>
            <a:r>
              <a:rPr lang="en-US" dirty="0"/>
              <a:t>companies like Netflix release updates continuously without issues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a:t>
            </a:r>
          </a:p>
          <a:p>
            <a:r>
              <a:rPr lang="en-US" b="1" dirty="0"/>
              <a:t>🔹 Slide 14 – Before vs After DevOps </a:t>
            </a:r>
          </a:p>
          <a:p>
            <a:endParaRPr lang="en-US" b="1" dirty="0"/>
          </a:p>
          <a:p>
            <a:pPr lvl="1"/>
            <a:r>
              <a:rPr lang="en-US" dirty="0"/>
              <a:t>earlier releases took months → now deployments happen daily </a:t>
            </a:r>
          </a:p>
          <a:p>
            <a:pPr lvl="1"/>
            <a:r>
              <a:rPr lang="en-US" dirty="0"/>
              <a:t>dev and ops were separate → now shared responsibility </a:t>
            </a:r>
          </a:p>
          <a:p>
            <a:pPr lvl="1"/>
            <a:r>
              <a:rPr lang="en-US" dirty="0"/>
              <a:t>testing at the end → now continuous testing </a:t>
            </a:r>
          </a:p>
          <a:p>
            <a:pPr lvl="1"/>
            <a:r>
              <a:rPr lang="en-US" dirty="0"/>
              <a:t>users found bugs → now system detects early </a:t>
            </a:r>
          </a:p>
          <a:p>
            <a:pPr lvl="1"/>
            <a:r>
              <a:rPr lang="en-US" dirty="0"/>
              <a:t>👉 strong line:</a:t>
            </a:r>
          </a:p>
          <a:p>
            <a:pPr lvl="1"/>
            <a:r>
              <a:rPr lang="en-US" dirty="0"/>
              <a:t>shift from slow and reactive → fast and proactive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3" name="Text 1"/>
          <p:cNvSpPr/>
          <p:nvPr/>
        </p:nvSpPr>
        <p:spPr>
          <a:xfrm>
            <a:off x="411480" y="1005840"/>
            <a:ext cx="5943600" cy="2286000"/>
          </a:xfrm>
          <a:prstGeom prst="rect">
            <a:avLst/>
          </a:prstGeom>
          <a:noFill/>
          <a:ln/>
        </p:spPr>
        <p:txBody>
          <a:bodyPr wrap="square" rtlCol="0" anchor="t"/>
          <a:lstStyle/>
          <a:p>
            <a:pPr marL="0" indent="0" algn="l">
              <a:buNone/>
            </a:pPr>
            <a:r>
              <a:rPr lang="en-US" sz="5200" b="1" dirty="0">
                <a:solidFill>
                  <a:srgbClr val="FFFFFF"/>
                </a:solidFill>
                <a:latin typeface="Calibri" pitchFamily="34" charset="0"/>
                <a:ea typeface="Calibri" pitchFamily="34" charset="-122"/>
                <a:cs typeface="Calibri" pitchFamily="34" charset="-120"/>
              </a:rPr>
              <a:t>Business Need</a:t>
            </a:r>
            <a:endParaRPr lang="en-US" sz="5200" dirty="0"/>
          </a:p>
          <a:p>
            <a:pPr marL="0" indent="0" algn="l">
              <a:buNone/>
            </a:pPr>
            <a:r>
              <a:rPr lang="en-US" sz="5200" b="1" dirty="0">
                <a:solidFill>
                  <a:srgbClr val="FFFFFF"/>
                </a:solidFill>
                <a:latin typeface="Calibri" pitchFamily="34" charset="0"/>
                <a:ea typeface="Calibri" pitchFamily="34" charset="-122"/>
                <a:cs typeface="Calibri" pitchFamily="34" charset="-120"/>
              </a:rPr>
              <a:t>for DevOps</a:t>
            </a:r>
            <a:endParaRPr lang="en-US" sz="5200" dirty="0"/>
          </a:p>
        </p:txBody>
      </p:sp>
      <p:sp>
        <p:nvSpPr>
          <p:cNvPr id="4" name="Text 2"/>
          <p:cNvSpPr/>
          <p:nvPr/>
        </p:nvSpPr>
        <p:spPr>
          <a:xfrm>
            <a:off x="525780" y="2834640"/>
            <a:ext cx="6217920" cy="457200"/>
          </a:xfrm>
          <a:prstGeom prst="rect">
            <a:avLst/>
          </a:prstGeom>
          <a:noFill/>
          <a:ln/>
        </p:spPr>
        <p:txBody>
          <a:bodyPr wrap="square" rtlCol="0" anchor="ctr"/>
          <a:lstStyle/>
          <a:p>
            <a:pPr marL="0" indent="0" algn="l">
              <a:buNone/>
            </a:pPr>
            <a:r>
              <a:rPr lang="en-US" sz="1700" i="1" dirty="0">
                <a:solidFill>
                  <a:srgbClr val="00C9B1"/>
                </a:solidFill>
                <a:latin typeface="Calibri" pitchFamily="34" charset="0"/>
                <a:ea typeface="Calibri" pitchFamily="34" charset="-122"/>
                <a:cs typeface="Calibri" pitchFamily="34" charset="-120"/>
              </a:rPr>
              <a:t>Why Every Business Needs DevOps Today</a:t>
            </a:r>
            <a:endParaRPr lang="en-US" sz="1700" dirty="0"/>
          </a:p>
        </p:txBody>
      </p:sp>
      <p:sp>
        <p:nvSpPr>
          <p:cNvPr id="5" name="Shape 3"/>
          <p:cNvSpPr/>
          <p:nvPr/>
        </p:nvSpPr>
        <p:spPr>
          <a:xfrm>
            <a:off x="0" y="4549140"/>
            <a:ext cx="9144000" cy="571500"/>
          </a:xfrm>
          <a:prstGeom prst="rect">
            <a:avLst/>
          </a:prstGeom>
          <a:solidFill>
            <a:srgbClr val="1A2E45"/>
          </a:solidFill>
          <a:ln/>
        </p:spPr>
        <p:txBody>
          <a:bodyPr/>
          <a:lstStyle/>
          <a:p>
            <a:endParaRPr lang="en-US"/>
          </a:p>
        </p:txBody>
      </p:sp>
      <p:sp>
        <p:nvSpPr>
          <p:cNvPr id="6" name="Text 4"/>
          <p:cNvSpPr/>
          <p:nvPr/>
        </p:nvSpPr>
        <p:spPr>
          <a:xfrm>
            <a:off x="411480" y="4617720"/>
            <a:ext cx="8229600" cy="457200"/>
          </a:xfrm>
          <a:prstGeom prst="rect">
            <a:avLst/>
          </a:prstGeom>
          <a:noFill/>
          <a:ln/>
        </p:spPr>
        <p:txBody>
          <a:bodyPr wrap="square" rtlCol="0" anchor="ctr"/>
          <a:lstStyle/>
          <a:p>
            <a:pPr marL="0" indent="0" algn="l">
              <a:buNone/>
            </a:pPr>
            <a:r>
              <a:rPr lang="en-US" sz="1100" dirty="0">
                <a:solidFill>
                  <a:srgbClr val="A8B8CC"/>
                </a:solidFill>
                <a:latin typeface="Calibri" pitchFamily="34" charset="0"/>
                <a:ea typeface="Calibri" pitchFamily="34" charset="-122"/>
                <a:cs typeface="Calibri" pitchFamily="34" charset="-120"/>
              </a:rPr>
              <a:t> |  Assignment II  |  Group 17</a:t>
            </a:r>
            <a:endParaRPr lang="en-US" sz="1100" dirty="0"/>
          </a:p>
        </p:txBody>
      </p:sp>
      <p:sp>
        <p:nvSpPr>
          <p:cNvPr id="7" name="Shape 5"/>
          <p:cNvSpPr/>
          <p:nvPr/>
        </p:nvSpPr>
        <p:spPr>
          <a:xfrm>
            <a:off x="7132320" y="548640"/>
            <a:ext cx="2011680" cy="2011680"/>
          </a:xfrm>
          <a:prstGeom prst="ellipse">
            <a:avLst/>
          </a:prstGeom>
          <a:solidFill>
            <a:srgbClr val="00C9B1">
              <a:alpha val="25000"/>
            </a:srgbClr>
          </a:solidFill>
          <a:ln w="12700">
            <a:solidFill>
              <a:srgbClr val="00C9B1">
                <a:alpha val="30000"/>
              </a:srgbClr>
            </a:solidFill>
            <a:prstDash val="solid"/>
          </a:ln>
        </p:spPr>
        <p:txBody>
          <a:bodyPr/>
          <a:lstStyle/>
          <a:p>
            <a:endParaRPr lang="en-US"/>
          </a:p>
        </p:txBody>
      </p:sp>
      <p:sp>
        <p:nvSpPr>
          <p:cNvPr id="8" name="Shape 6"/>
          <p:cNvSpPr/>
          <p:nvPr/>
        </p:nvSpPr>
        <p:spPr>
          <a:xfrm>
            <a:off x="6583680" y="1371600"/>
            <a:ext cx="2926080" cy="2926080"/>
          </a:xfrm>
          <a:prstGeom prst="ellipse">
            <a:avLst/>
          </a:prstGeom>
          <a:solidFill>
            <a:srgbClr val="243B55">
              <a:alpha val="60000"/>
            </a:srgbClr>
          </a:solidFill>
          <a:ln w="12700">
            <a:solidFill>
              <a:srgbClr val="00C9B1">
                <a:alpha val="30000"/>
              </a:srgbClr>
            </a:solidFill>
            <a:prstDash val="solid"/>
          </a:ln>
        </p:spPr>
        <p:txBody>
          <a:bodyPr/>
          <a:lstStyle/>
          <a:p>
            <a:endParaRPr lang="en-US"/>
          </a:p>
        </p:txBody>
      </p:sp>
      <p:sp>
        <p:nvSpPr>
          <p:cNvPr id="9" name="Shape 7"/>
          <p:cNvSpPr/>
          <p:nvPr/>
        </p:nvSpPr>
        <p:spPr>
          <a:xfrm>
            <a:off x="7406640" y="2560320"/>
            <a:ext cx="1645920" cy="1645920"/>
          </a:xfrm>
          <a:prstGeom prst="ellipse">
            <a:avLst/>
          </a:prstGeom>
          <a:solidFill>
            <a:srgbClr val="00A896">
              <a:alpha val="40000"/>
            </a:srgbClr>
          </a:solidFill>
          <a:ln w="12700">
            <a:solidFill>
              <a:srgbClr val="00C9B1">
                <a:alpha val="30000"/>
              </a:srgbClr>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a:effectLst/>
      </p:bgPr>
    </p:bg>
    <p:spTree>
      <p:nvGrpSpPr>
        <p:cNvPr id="1" name=""/>
        <p:cNvGrpSpPr/>
        <p:nvPr/>
      </p:nvGrpSpPr>
      <p:grpSpPr>
        <a:xfrm>
          <a:off x="0" y="0"/>
          <a:ext cx="0" cy="0"/>
          <a:chOff x="0" y="0"/>
          <a:chExt cx="0" cy="0"/>
        </a:xfrm>
      </p:grpSpPr>
      <p:sp>
        <p:nvSpPr>
          <p:cNvPr id="3" name="Text 1"/>
          <p:cNvSpPr/>
          <p:nvPr/>
        </p:nvSpPr>
        <p:spPr>
          <a:xfrm>
            <a:off x="411480" y="228600"/>
            <a:ext cx="8229600" cy="59436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What We Cover</a:t>
            </a:r>
            <a:endParaRPr lang="en-US" sz="3200" dirty="0"/>
          </a:p>
        </p:txBody>
      </p:sp>
      <p:sp>
        <p:nvSpPr>
          <p:cNvPr id="4" name="Shape 2"/>
          <p:cNvSpPr/>
          <p:nvPr/>
        </p:nvSpPr>
        <p:spPr>
          <a:xfrm>
            <a:off x="411480" y="1005840"/>
            <a:ext cx="4114800" cy="594360"/>
          </a:xfrm>
          <a:prstGeom prst="rect">
            <a:avLst/>
          </a:prstGeom>
          <a:solidFill>
            <a:srgbClr val="162234"/>
          </a:solidFill>
          <a:ln w="12700">
            <a:solidFill>
              <a:srgbClr val="243B55"/>
            </a:solidFill>
            <a:prstDash val="solid"/>
          </a:ln>
        </p:spPr>
        <p:txBody>
          <a:bodyPr/>
          <a:lstStyle/>
          <a:p>
            <a:endParaRPr lang="en-US"/>
          </a:p>
        </p:txBody>
      </p:sp>
      <p:sp>
        <p:nvSpPr>
          <p:cNvPr id="5" name="Shape 3"/>
          <p:cNvSpPr/>
          <p:nvPr/>
        </p:nvSpPr>
        <p:spPr>
          <a:xfrm>
            <a:off x="411480" y="1005840"/>
            <a:ext cx="502920" cy="594360"/>
          </a:xfrm>
          <a:prstGeom prst="rect">
            <a:avLst/>
          </a:prstGeom>
          <a:solidFill>
            <a:srgbClr val="00C9B1"/>
          </a:solidFill>
          <a:ln/>
        </p:spPr>
        <p:txBody>
          <a:bodyPr/>
          <a:lstStyle/>
          <a:p>
            <a:endParaRPr lang="en-US"/>
          </a:p>
        </p:txBody>
      </p:sp>
      <p:sp>
        <p:nvSpPr>
          <p:cNvPr id="6" name="Text 4"/>
          <p:cNvSpPr/>
          <p:nvPr/>
        </p:nvSpPr>
        <p:spPr>
          <a:xfrm>
            <a:off x="411480" y="1051560"/>
            <a:ext cx="502920" cy="502920"/>
          </a:xfrm>
          <a:prstGeom prst="rect">
            <a:avLst/>
          </a:prstGeom>
          <a:noFill/>
          <a:ln/>
        </p:spPr>
        <p:txBody>
          <a:bodyPr wrap="square" rtlCol="0" anchor="ctr"/>
          <a:lstStyle/>
          <a:p>
            <a:pPr marL="0" indent="0" algn="ctr">
              <a:buNone/>
            </a:pPr>
            <a:r>
              <a:rPr lang="en-US" sz="1400" b="1" dirty="0">
                <a:solidFill>
                  <a:srgbClr val="0D1B2A"/>
                </a:solidFill>
              </a:rPr>
              <a:t>01</a:t>
            </a:r>
            <a:endParaRPr lang="en-US" sz="1400" dirty="0"/>
          </a:p>
        </p:txBody>
      </p:sp>
      <p:sp>
        <p:nvSpPr>
          <p:cNvPr id="7" name="Text 5"/>
          <p:cNvSpPr/>
          <p:nvPr/>
        </p:nvSpPr>
        <p:spPr>
          <a:xfrm>
            <a:off x="1005840" y="1097280"/>
            <a:ext cx="3429000" cy="457200"/>
          </a:xfrm>
          <a:prstGeom prst="rect">
            <a:avLst/>
          </a:prstGeom>
          <a:noFill/>
          <a:ln/>
        </p:spPr>
        <p:txBody>
          <a:bodyPr wrap="square" rtlCol="0" anchor="ctr"/>
          <a:lstStyle/>
          <a:p>
            <a:pPr marL="0" indent="0">
              <a:buNone/>
            </a:pPr>
            <a:r>
              <a:rPr lang="en-US" sz="1200" dirty="0">
                <a:solidFill>
                  <a:srgbClr val="E8EDF3"/>
                </a:solidFill>
                <a:latin typeface="Calibri" pitchFamily="34" charset="0"/>
                <a:ea typeface="Calibri" pitchFamily="34" charset="-122"/>
                <a:cs typeface="Calibri" pitchFamily="34" charset="-120"/>
              </a:rPr>
              <a:t>Why DevOps Was Needed</a:t>
            </a:r>
            <a:endParaRPr lang="en-US" sz="1200" dirty="0"/>
          </a:p>
        </p:txBody>
      </p:sp>
      <p:sp>
        <p:nvSpPr>
          <p:cNvPr id="8" name="Shape 6"/>
          <p:cNvSpPr/>
          <p:nvPr/>
        </p:nvSpPr>
        <p:spPr>
          <a:xfrm>
            <a:off x="411480" y="1755648"/>
            <a:ext cx="4114800" cy="594360"/>
          </a:xfrm>
          <a:prstGeom prst="rect">
            <a:avLst/>
          </a:prstGeom>
          <a:solidFill>
            <a:srgbClr val="162234"/>
          </a:solidFill>
          <a:ln w="12700">
            <a:solidFill>
              <a:srgbClr val="243B55"/>
            </a:solidFill>
            <a:prstDash val="solid"/>
          </a:ln>
        </p:spPr>
        <p:txBody>
          <a:bodyPr/>
          <a:lstStyle/>
          <a:p>
            <a:endParaRPr lang="en-US"/>
          </a:p>
        </p:txBody>
      </p:sp>
      <p:sp>
        <p:nvSpPr>
          <p:cNvPr id="9" name="Shape 7"/>
          <p:cNvSpPr/>
          <p:nvPr/>
        </p:nvSpPr>
        <p:spPr>
          <a:xfrm>
            <a:off x="411480" y="1755648"/>
            <a:ext cx="502920" cy="594360"/>
          </a:xfrm>
          <a:prstGeom prst="rect">
            <a:avLst/>
          </a:prstGeom>
          <a:solidFill>
            <a:srgbClr val="00C9B1"/>
          </a:solidFill>
          <a:ln/>
        </p:spPr>
        <p:txBody>
          <a:bodyPr/>
          <a:lstStyle/>
          <a:p>
            <a:endParaRPr lang="en-US"/>
          </a:p>
        </p:txBody>
      </p:sp>
      <p:sp>
        <p:nvSpPr>
          <p:cNvPr id="10" name="Text 8"/>
          <p:cNvSpPr/>
          <p:nvPr/>
        </p:nvSpPr>
        <p:spPr>
          <a:xfrm>
            <a:off x="411480" y="1801368"/>
            <a:ext cx="502920" cy="502920"/>
          </a:xfrm>
          <a:prstGeom prst="rect">
            <a:avLst/>
          </a:prstGeom>
          <a:noFill/>
          <a:ln/>
        </p:spPr>
        <p:txBody>
          <a:bodyPr wrap="square" rtlCol="0" anchor="ctr"/>
          <a:lstStyle/>
          <a:p>
            <a:pPr marL="0" indent="0" algn="ctr">
              <a:buNone/>
            </a:pPr>
            <a:r>
              <a:rPr lang="en-US" sz="1400" b="1" dirty="0">
                <a:solidFill>
                  <a:srgbClr val="0D1B2A"/>
                </a:solidFill>
              </a:rPr>
              <a:t>02</a:t>
            </a:r>
            <a:endParaRPr lang="en-US" sz="1400" dirty="0"/>
          </a:p>
        </p:txBody>
      </p:sp>
      <p:sp>
        <p:nvSpPr>
          <p:cNvPr id="11" name="Text 9"/>
          <p:cNvSpPr/>
          <p:nvPr/>
        </p:nvSpPr>
        <p:spPr>
          <a:xfrm>
            <a:off x="1005840" y="1847088"/>
            <a:ext cx="3429000" cy="457200"/>
          </a:xfrm>
          <a:prstGeom prst="rect">
            <a:avLst/>
          </a:prstGeom>
          <a:noFill/>
          <a:ln/>
        </p:spPr>
        <p:txBody>
          <a:bodyPr wrap="square" rtlCol="0" anchor="ctr"/>
          <a:lstStyle/>
          <a:p>
            <a:pPr marL="0" indent="0">
              <a:buNone/>
            </a:pPr>
            <a:r>
              <a:rPr lang="en-US" sz="1200" dirty="0">
                <a:solidFill>
                  <a:srgbClr val="E8EDF3"/>
                </a:solidFill>
                <a:latin typeface="Calibri" pitchFamily="34" charset="0"/>
                <a:ea typeface="Calibri" pitchFamily="34" charset="-122"/>
                <a:cs typeface="Calibri" pitchFamily="34" charset="-120"/>
              </a:rPr>
              <a:t>What DevOps Actually Means</a:t>
            </a:r>
            <a:endParaRPr lang="en-US" sz="1200" dirty="0"/>
          </a:p>
        </p:txBody>
      </p:sp>
      <p:sp>
        <p:nvSpPr>
          <p:cNvPr id="12" name="Shape 10"/>
          <p:cNvSpPr/>
          <p:nvPr/>
        </p:nvSpPr>
        <p:spPr>
          <a:xfrm>
            <a:off x="411480" y="2505456"/>
            <a:ext cx="4114800" cy="594360"/>
          </a:xfrm>
          <a:prstGeom prst="rect">
            <a:avLst/>
          </a:prstGeom>
          <a:solidFill>
            <a:srgbClr val="162234"/>
          </a:solidFill>
          <a:ln w="12700">
            <a:solidFill>
              <a:srgbClr val="243B55"/>
            </a:solidFill>
            <a:prstDash val="solid"/>
          </a:ln>
        </p:spPr>
        <p:txBody>
          <a:bodyPr/>
          <a:lstStyle/>
          <a:p>
            <a:endParaRPr lang="en-US"/>
          </a:p>
        </p:txBody>
      </p:sp>
      <p:sp>
        <p:nvSpPr>
          <p:cNvPr id="13" name="Shape 11"/>
          <p:cNvSpPr/>
          <p:nvPr/>
        </p:nvSpPr>
        <p:spPr>
          <a:xfrm>
            <a:off x="411480" y="2505456"/>
            <a:ext cx="502920" cy="594360"/>
          </a:xfrm>
          <a:prstGeom prst="rect">
            <a:avLst/>
          </a:prstGeom>
          <a:solidFill>
            <a:srgbClr val="00C9B1"/>
          </a:solidFill>
          <a:ln/>
        </p:spPr>
        <p:txBody>
          <a:bodyPr/>
          <a:lstStyle/>
          <a:p>
            <a:endParaRPr lang="en-US"/>
          </a:p>
        </p:txBody>
      </p:sp>
      <p:sp>
        <p:nvSpPr>
          <p:cNvPr id="14" name="Text 12"/>
          <p:cNvSpPr/>
          <p:nvPr/>
        </p:nvSpPr>
        <p:spPr>
          <a:xfrm>
            <a:off x="411480" y="2551176"/>
            <a:ext cx="502920" cy="502920"/>
          </a:xfrm>
          <a:prstGeom prst="rect">
            <a:avLst/>
          </a:prstGeom>
          <a:noFill/>
          <a:ln/>
        </p:spPr>
        <p:txBody>
          <a:bodyPr wrap="square" rtlCol="0" anchor="ctr"/>
          <a:lstStyle/>
          <a:p>
            <a:pPr marL="0" indent="0" algn="ctr">
              <a:buNone/>
            </a:pPr>
            <a:r>
              <a:rPr lang="en-US" sz="1400" b="1" dirty="0">
                <a:solidFill>
                  <a:srgbClr val="0D1B2A"/>
                </a:solidFill>
              </a:rPr>
              <a:t>03</a:t>
            </a:r>
            <a:endParaRPr lang="en-US" sz="1400" dirty="0"/>
          </a:p>
        </p:txBody>
      </p:sp>
      <p:sp>
        <p:nvSpPr>
          <p:cNvPr id="15" name="Text 13"/>
          <p:cNvSpPr/>
          <p:nvPr/>
        </p:nvSpPr>
        <p:spPr>
          <a:xfrm>
            <a:off x="1005840" y="2596896"/>
            <a:ext cx="3429000" cy="457200"/>
          </a:xfrm>
          <a:prstGeom prst="rect">
            <a:avLst/>
          </a:prstGeom>
          <a:noFill/>
          <a:ln/>
        </p:spPr>
        <p:txBody>
          <a:bodyPr wrap="square" rtlCol="0" anchor="ctr"/>
          <a:lstStyle/>
          <a:p>
            <a:pPr marL="0" indent="0">
              <a:buNone/>
            </a:pPr>
            <a:r>
              <a:rPr lang="en-US" sz="1200" dirty="0">
                <a:solidFill>
                  <a:srgbClr val="E8EDF3"/>
                </a:solidFill>
                <a:latin typeface="Calibri" pitchFamily="34" charset="0"/>
                <a:ea typeface="Calibri" pitchFamily="34" charset="-122"/>
                <a:cs typeface="Calibri" pitchFamily="34" charset="-120"/>
              </a:rPr>
              <a:t>The DevOps Lifecycle — Step by Step</a:t>
            </a:r>
            <a:endParaRPr lang="en-US" sz="1200" dirty="0"/>
          </a:p>
        </p:txBody>
      </p:sp>
      <p:sp>
        <p:nvSpPr>
          <p:cNvPr id="16" name="Shape 14"/>
          <p:cNvSpPr/>
          <p:nvPr/>
        </p:nvSpPr>
        <p:spPr>
          <a:xfrm>
            <a:off x="411480" y="3255264"/>
            <a:ext cx="4114800" cy="594360"/>
          </a:xfrm>
          <a:prstGeom prst="rect">
            <a:avLst/>
          </a:prstGeom>
          <a:solidFill>
            <a:srgbClr val="162234"/>
          </a:solidFill>
          <a:ln w="12700">
            <a:solidFill>
              <a:srgbClr val="243B55"/>
            </a:solidFill>
            <a:prstDash val="solid"/>
          </a:ln>
        </p:spPr>
        <p:txBody>
          <a:bodyPr/>
          <a:lstStyle/>
          <a:p>
            <a:endParaRPr lang="en-US"/>
          </a:p>
        </p:txBody>
      </p:sp>
      <p:sp>
        <p:nvSpPr>
          <p:cNvPr id="17" name="Shape 15"/>
          <p:cNvSpPr/>
          <p:nvPr/>
        </p:nvSpPr>
        <p:spPr>
          <a:xfrm>
            <a:off x="411480" y="3255264"/>
            <a:ext cx="502920" cy="594360"/>
          </a:xfrm>
          <a:prstGeom prst="rect">
            <a:avLst/>
          </a:prstGeom>
          <a:solidFill>
            <a:srgbClr val="00C9B1"/>
          </a:solidFill>
          <a:ln/>
        </p:spPr>
        <p:txBody>
          <a:bodyPr/>
          <a:lstStyle/>
          <a:p>
            <a:endParaRPr lang="en-US"/>
          </a:p>
        </p:txBody>
      </p:sp>
      <p:sp>
        <p:nvSpPr>
          <p:cNvPr id="18" name="Text 16"/>
          <p:cNvSpPr/>
          <p:nvPr/>
        </p:nvSpPr>
        <p:spPr>
          <a:xfrm>
            <a:off x="411480" y="3300984"/>
            <a:ext cx="502920" cy="502920"/>
          </a:xfrm>
          <a:prstGeom prst="rect">
            <a:avLst/>
          </a:prstGeom>
          <a:noFill/>
          <a:ln/>
        </p:spPr>
        <p:txBody>
          <a:bodyPr wrap="square" rtlCol="0" anchor="ctr"/>
          <a:lstStyle/>
          <a:p>
            <a:pPr marL="0" indent="0" algn="ctr">
              <a:buNone/>
            </a:pPr>
            <a:r>
              <a:rPr lang="en-US" sz="1400" b="1" dirty="0">
                <a:solidFill>
                  <a:srgbClr val="0D1B2A"/>
                </a:solidFill>
              </a:rPr>
              <a:t>04</a:t>
            </a:r>
            <a:endParaRPr lang="en-US" sz="1400" dirty="0"/>
          </a:p>
        </p:txBody>
      </p:sp>
      <p:sp>
        <p:nvSpPr>
          <p:cNvPr id="19" name="Text 17"/>
          <p:cNvSpPr/>
          <p:nvPr/>
        </p:nvSpPr>
        <p:spPr>
          <a:xfrm>
            <a:off x="1005840" y="3346704"/>
            <a:ext cx="3429000" cy="457200"/>
          </a:xfrm>
          <a:prstGeom prst="rect">
            <a:avLst/>
          </a:prstGeom>
          <a:noFill/>
          <a:ln/>
        </p:spPr>
        <p:txBody>
          <a:bodyPr wrap="square" rtlCol="0" anchor="ctr"/>
          <a:lstStyle/>
          <a:p>
            <a:pPr marL="0" indent="0">
              <a:buNone/>
            </a:pPr>
            <a:r>
              <a:rPr lang="en-US" sz="1200" dirty="0">
                <a:solidFill>
                  <a:srgbClr val="E8EDF3"/>
                </a:solidFill>
                <a:latin typeface="Calibri" pitchFamily="34" charset="0"/>
                <a:ea typeface="Calibri" pitchFamily="34" charset="-122"/>
                <a:cs typeface="Calibri" pitchFamily="34" charset="-120"/>
              </a:rPr>
              <a:t>Real World: How Spotify &amp; Amazon Use DevOps</a:t>
            </a:r>
            <a:endParaRPr lang="en-US" sz="1200" dirty="0"/>
          </a:p>
        </p:txBody>
      </p:sp>
      <p:sp>
        <p:nvSpPr>
          <p:cNvPr id="20" name="Shape 18"/>
          <p:cNvSpPr/>
          <p:nvPr/>
        </p:nvSpPr>
        <p:spPr>
          <a:xfrm>
            <a:off x="411480" y="4005072"/>
            <a:ext cx="4114800" cy="594360"/>
          </a:xfrm>
          <a:prstGeom prst="rect">
            <a:avLst/>
          </a:prstGeom>
          <a:solidFill>
            <a:srgbClr val="162234"/>
          </a:solidFill>
          <a:ln w="12700">
            <a:solidFill>
              <a:srgbClr val="243B55"/>
            </a:solidFill>
            <a:prstDash val="solid"/>
          </a:ln>
        </p:spPr>
        <p:txBody>
          <a:bodyPr/>
          <a:lstStyle/>
          <a:p>
            <a:endParaRPr lang="en-US"/>
          </a:p>
        </p:txBody>
      </p:sp>
      <p:sp>
        <p:nvSpPr>
          <p:cNvPr id="21" name="Shape 19"/>
          <p:cNvSpPr/>
          <p:nvPr/>
        </p:nvSpPr>
        <p:spPr>
          <a:xfrm>
            <a:off x="411480" y="4005072"/>
            <a:ext cx="502920" cy="594360"/>
          </a:xfrm>
          <a:prstGeom prst="rect">
            <a:avLst/>
          </a:prstGeom>
          <a:solidFill>
            <a:srgbClr val="00C9B1"/>
          </a:solidFill>
          <a:ln/>
        </p:spPr>
        <p:txBody>
          <a:bodyPr/>
          <a:lstStyle/>
          <a:p>
            <a:endParaRPr lang="en-US"/>
          </a:p>
        </p:txBody>
      </p:sp>
      <p:sp>
        <p:nvSpPr>
          <p:cNvPr id="22" name="Text 20"/>
          <p:cNvSpPr/>
          <p:nvPr/>
        </p:nvSpPr>
        <p:spPr>
          <a:xfrm>
            <a:off x="411480" y="4050792"/>
            <a:ext cx="502920" cy="502920"/>
          </a:xfrm>
          <a:prstGeom prst="rect">
            <a:avLst/>
          </a:prstGeom>
          <a:noFill/>
          <a:ln/>
        </p:spPr>
        <p:txBody>
          <a:bodyPr wrap="square" rtlCol="0" anchor="ctr"/>
          <a:lstStyle/>
          <a:p>
            <a:pPr marL="0" indent="0" algn="ctr">
              <a:buNone/>
            </a:pPr>
            <a:r>
              <a:rPr lang="en-US" sz="1400" b="1" dirty="0">
                <a:solidFill>
                  <a:srgbClr val="0D1B2A"/>
                </a:solidFill>
              </a:rPr>
              <a:t>05</a:t>
            </a:r>
            <a:endParaRPr lang="en-US" sz="1400" dirty="0"/>
          </a:p>
        </p:txBody>
      </p:sp>
      <p:sp>
        <p:nvSpPr>
          <p:cNvPr id="23" name="Text 21"/>
          <p:cNvSpPr/>
          <p:nvPr/>
        </p:nvSpPr>
        <p:spPr>
          <a:xfrm>
            <a:off x="1005840" y="4096512"/>
            <a:ext cx="3429000" cy="457200"/>
          </a:xfrm>
          <a:prstGeom prst="rect">
            <a:avLst/>
          </a:prstGeom>
          <a:noFill/>
          <a:ln/>
        </p:spPr>
        <p:txBody>
          <a:bodyPr wrap="square" rtlCol="0" anchor="ctr"/>
          <a:lstStyle/>
          <a:p>
            <a:pPr marL="0" indent="0">
              <a:buNone/>
            </a:pPr>
            <a:r>
              <a:rPr lang="en-US" sz="1200" dirty="0">
                <a:solidFill>
                  <a:srgbClr val="E8EDF3"/>
                </a:solidFill>
                <a:latin typeface="Calibri" pitchFamily="34" charset="0"/>
                <a:ea typeface="Calibri" pitchFamily="34" charset="-122"/>
                <a:cs typeface="Calibri" pitchFamily="34" charset="-120"/>
              </a:rPr>
              <a:t>Key Pillars: CI/CD, Automation, Culture</a:t>
            </a:r>
            <a:endParaRPr lang="en-US" sz="1200" dirty="0"/>
          </a:p>
        </p:txBody>
      </p:sp>
      <p:sp>
        <p:nvSpPr>
          <p:cNvPr id="24" name="Shape 22"/>
          <p:cNvSpPr/>
          <p:nvPr/>
        </p:nvSpPr>
        <p:spPr>
          <a:xfrm>
            <a:off x="4846320" y="1005840"/>
            <a:ext cx="4114800" cy="594360"/>
          </a:xfrm>
          <a:prstGeom prst="rect">
            <a:avLst/>
          </a:prstGeom>
          <a:solidFill>
            <a:srgbClr val="162234"/>
          </a:solidFill>
          <a:ln w="12700">
            <a:solidFill>
              <a:srgbClr val="243B55"/>
            </a:solidFill>
            <a:prstDash val="solid"/>
          </a:ln>
        </p:spPr>
        <p:txBody>
          <a:bodyPr/>
          <a:lstStyle/>
          <a:p>
            <a:endParaRPr lang="en-US"/>
          </a:p>
        </p:txBody>
      </p:sp>
      <p:sp>
        <p:nvSpPr>
          <p:cNvPr id="25" name="Shape 23"/>
          <p:cNvSpPr/>
          <p:nvPr/>
        </p:nvSpPr>
        <p:spPr>
          <a:xfrm>
            <a:off x="4846320" y="1005840"/>
            <a:ext cx="502920" cy="594360"/>
          </a:xfrm>
          <a:prstGeom prst="rect">
            <a:avLst/>
          </a:prstGeom>
          <a:solidFill>
            <a:srgbClr val="F5A623"/>
          </a:solidFill>
          <a:ln/>
        </p:spPr>
        <p:txBody>
          <a:bodyPr/>
          <a:lstStyle/>
          <a:p>
            <a:endParaRPr lang="en-US"/>
          </a:p>
        </p:txBody>
      </p:sp>
      <p:sp>
        <p:nvSpPr>
          <p:cNvPr id="26" name="Text 24"/>
          <p:cNvSpPr/>
          <p:nvPr/>
        </p:nvSpPr>
        <p:spPr>
          <a:xfrm>
            <a:off x="4846320" y="1051560"/>
            <a:ext cx="502920" cy="502920"/>
          </a:xfrm>
          <a:prstGeom prst="rect">
            <a:avLst/>
          </a:prstGeom>
          <a:noFill/>
          <a:ln/>
        </p:spPr>
        <p:txBody>
          <a:bodyPr wrap="square" rtlCol="0" anchor="ctr"/>
          <a:lstStyle/>
          <a:p>
            <a:pPr marL="0" indent="0" algn="ctr">
              <a:buNone/>
            </a:pPr>
            <a:r>
              <a:rPr lang="en-US" sz="1400" b="1" dirty="0">
                <a:solidFill>
                  <a:srgbClr val="0D1B2A"/>
                </a:solidFill>
              </a:rPr>
              <a:t>06</a:t>
            </a:r>
            <a:endParaRPr lang="en-US" sz="1400" dirty="0"/>
          </a:p>
        </p:txBody>
      </p:sp>
      <p:sp>
        <p:nvSpPr>
          <p:cNvPr id="27" name="Text 25"/>
          <p:cNvSpPr/>
          <p:nvPr/>
        </p:nvSpPr>
        <p:spPr>
          <a:xfrm>
            <a:off x="5440680" y="1097280"/>
            <a:ext cx="3429000" cy="457200"/>
          </a:xfrm>
          <a:prstGeom prst="rect">
            <a:avLst/>
          </a:prstGeom>
          <a:noFill/>
          <a:ln/>
        </p:spPr>
        <p:txBody>
          <a:bodyPr wrap="square" rtlCol="0" anchor="ctr"/>
          <a:lstStyle/>
          <a:p>
            <a:pPr marL="0" indent="0">
              <a:buNone/>
            </a:pPr>
            <a:r>
              <a:rPr lang="en-US" sz="1200" dirty="0">
                <a:solidFill>
                  <a:srgbClr val="E8EDF3"/>
                </a:solidFill>
                <a:latin typeface="Calibri" pitchFamily="34" charset="0"/>
                <a:ea typeface="Calibri" pitchFamily="34" charset="-122"/>
                <a:cs typeface="Calibri" pitchFamily="34" charset="-120"/>
              </a:rPr>
              <a:t>Measurable Business Impact</a:t>
            </a:r>
            <a:endParaRPr lang="en-US" sz="1200" dirty="0"/>
          </a:p>
        </p:txBody>
      </p:sp>
      <p:sp>
        <p:nvSpPr>
          <p:cNvPr id="28" name="Shape 26"/>
          <p:cNvSpPr/>
          <p:nvPr/>
        </p:nvSpPr>
        <p:spPr>
          <a:xfrm>
            <a:off x="4846320" y="1755648"/>
            <a:ext cx="4114800" cy="594360"/>
          </a:xfrm>
          <a:prstGeom prst="rect">
            <a:avLst/>
          </a:prstGeom>
          <a:solidFill>
            <a:srgbClr val="162234"/>
          </a:solidFill>
          <a:ln w="12700">
            <a:solidFill>
              <a:srgbClr val="243B55"/>
            </a:solidFill>
            <a:prstDash val="solid"/>
          </a:ln>
        </p:spPr>
        <p:txBody>
          <a:bodyPr/>
          <a:lstStyle/>
          <a:p>
            <a:endParaRPr lang="en-US"/>
          </a:p>
        </p:txBody>
      </p:sp>
      <p:sp>
        <p:nvSpPr>
          <p:cNvPr id="29" name="Shape 27"/>
          <p:cNvSpPr/>
          <p:nvPr/>
        </p:nvSpPr>
        <p:spPr>
          <a:xfrm>
            <a:off x="4846320" y="1755648"/>
            <a:ext cx="502920" cy="594360"/>
          </a:xfrm>
          <a:prstGeom prst="rect">
            <a:avLst/>
          </a:prstGeom>
          <a:solidFill>
            <a:srgbClr val="F5A623"/>
          </a:solidFill>
          <a:ln/>
        </p:spPr>
        <p:txBody>
          <a:bodyPr/>
          <a:lstStyle/>
          <a:p>
            <a:endParaRPr lang="en-US"/>
          </a:p>
        </p:txBody>
      </p:sp>
      <p:sp>
        <p:nvSpPr>
          <p:cNvPr id="30" name="Text 28"/>
          <p:cNvSpPr/>
          <p:nvPr/>
        </p:nvSpPr>
        <p:spPr>
          <a:xfrm>
            <a:off x="4846320" y="1801368"/>
            <a:ext cx="502920" cy="502920"/>
          </a:xfrm>
          <a:prstGeom prst="rect">
            <a:avLst/>
          </a:prstGeom>
          <a:noFill/>
          <a:ln/>
        </p:spPr>
        <p:txBody>
          <a:bodyPr wrap="square" rtlCol="0" anchor="ctr"/>
          <a:lstStyle/>
          <a:p>
            <a:pPr marL="0" indent="0" algn="ctr">
              <a:buNone/>
            </a:pPr>
            <a:r>
              <a:rPr lang="en-US" sz="1400" b="1" dirty="0">
                <a:solidFill>
                  <a:srgbClr val="0D1B2A"/>
                </a:solidFill>
              </a:rPr>
              <a:t>07</a:t>
            </a:r>
            <a:endParaRPr lang="en-US" sz="1400" dirty="0"/>
          </a:p>
        </p:txBody>
      </p:sp>
      <p:sp>
        <p:nvSpPr>
          <p:cNvPr id="31" name="Text 29"/>
          <p:cNvSpPr/>
          <p:nvPr/>
        </p:nvSpPr>
        <p:spPr>
          <a:xfrm>
            <a:off x="5440680" y="1847088"/>
            <a:ext cx="3429000" cy="457200"/>
          </a:xfrm>
          <a:prstGeom prst="rect">
            <a:avLst/>
          </a:prstGeom>
          <a:noFill/>
          <a:ln/>
        </p:spPr>
        <p:txBody>
          <a:bodyPr wrap="square" rtlCol="0" anchor="ctr"/>
          <a:lstStyle/>
          <a:p>
            <a:pPr marL="0" indent="0">
              <a:buNone/>
            </a:pPr>
            <a:r>
              <a:rPr lang="en-US" sz="1200" dirty="0">
                <a:solidFill>
                  <a:srgbClr val="E8EDF3"/>
                </a:solidFill>
                <a:latin typeface="Calibri" pitchFamily="34" charset="0"/>
                <a:ea typeface="Calibri" pitchFamily="34" charset="-122"/>
                <a:cs typeface="Calibri" pitchFamily="34" charset="-120"/>
              </a:rPr>
              <a:t>Before vs After DevOps</a:t>
            </a:r>
            <a:endParaRPr lang="en-US" sz="1200" dirty="0"/>
          </a:p>
        </p:txBody>
      </p:sp>
      <p:sp>
        <p:nvSpPr>
          <p:cNvPr id="34" name="Text 32"/>
          <p:cNvSpPr/>
          <p:nvPr/>
        </p:nvSpPr>
        <p:spPr>
          <a:xfrm>
            <a:off x="4846320" y="2542033"/>
            <a:ext cx="502920" cy="502920"/>
          </a:xfrm>
          <a:prstGeom prst="rect">
            <a:avLst/>
          </a:prstGeom>
          <a:noFill/>
          <a:ln/>
        </p:spPr>
        <p:txBody>
          <a:bodyPr wrap="square" rtlCol="0" anchor="ctr"/>
          <a:lstStyle/>
          <a:p>
            <a:pPr marL="0" indent="0" algn="ctr">
              <a:buNone/>
            </a:pPr>
            <a:r>
              <a:rPr lang="en-US" sz="1400" b="1" dirty="0">
                <a:solidFill>
                  <a:srgbClr val="0D1B2A"/>
                </a:solidFill>
              </a:rPr>
              <a:t>08</a:t>
            </a:r>
            <a:endParaRPr lang="en-US" sz="1400" dirty="0"/>
          </a:p>
        </p:txBody>
      </p:sp>
      <p:sp>
        <p:nvSpPr>
          <p:cNvPr id="35" name="Text 33"/>
          <p:cNvSpPr/>
          <p:nvPr/>
        </p:nvSpPr>
        <p:spPr>
          <a:xfrm>
            <a:off x="5440680" y="2596896"/>
            <a:ext cx="3429000" cy="457200"/>
          </a:xfrm>
          <a:prstGeom prst="rect">
            <a:avLst/>
          </a:prstGeom>
          <a:noFill/>
          <a:ln/>
        </p:spPr>
        <p:txBody>
          <a:bodyPr wrap="square" rtlCol="0" anchor="ctr"/>
          <a:lstStyle/>
          <a:p>
            <a:pPr marL="0" indent="0">
              <a:buNone/>
            </a:pPr>
            <a:endParaRPr lang="en-US" sz="1200" dirty="0"/>
          </a:p>
        </p:txBody>
      </p:sp>
      <p:sp>
        <p:nvSpPr>
          <p:cNvPr id="38" name="Text 36"/>
          <p:cNvSpPr/>
          <p:nvPr/>
        </p:nvSpPr>
        <p:spPr>
          <a:xfrm>
            <a:off x="4846320" y="3300984"/>
            <a:ext cx="502920" cy="502920"/>
          </a:xfrm>
          <a:prstGeom prst="rect">
            <a:avLst/>
          </a:prstGeom>
          <a:noFill/>
          <a:ln/>
        </p:spPr>
        <p:txBody>
          <a:bodyPr wrap="square" rtlCol="0" anchor="ctr"/>
          <a:lstStyle/>
          <a:p>
            <a:pPr marL="0" indent="0" algn="ctr">
              <a:buNone/>
            </a:pPr>
            <a:r>
              <a:rPr lang="en-US" sz="1400" b="1" dirty="0">
                <a:solidFill>
                  <a:srgbClr val="0D1B2A"/>
                </a:solidFill>
              </a:rPr>
              <a:t>09</a:t>
            </a:r>
            <a:endParaRPr lang="en-US" sz="1400" dirty="0"/>
          </a:p>
        </p:txBody>
      </p:sp>
      <p:sp>
        <p:nvSpPr>
          <p:cNvPr id="39" name="Text 37"/>
          <p:cNvSpPr/>
          <p:nvPr/>
        </p:nvSpPr>
        <p:spPr>
          <a:xfrm>
            <a:off x="5440680" y="3346704"/>
            <a:ext cx="3429000" cy="457200"/>
          </a:xfrm>
          <a:prstGeom prst="rect">
            <a:avLst/>
          </a:prstGeom>
          <a:noFill/>
          <a:ln/>
        </p:spPr>
        <p:txBody>
          <a:bodyPr wrap="square" rtlCol="0" anchor="ctr"/>
          <a:lstStyle/>
          <a:p>
            <a:pPr marL="0" indent="0">
              <a:buNone/>
            </a:pP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Market Demand for DevOps">
    <p:bg>
      <p:bgPr>
        <a:solidFill>
          <a:srgbClr val="0D1B2A"/>
        </a:solidFill>
        <a:effectLst/>
      </p:bgPr>
    </p:bg>
    <p:spTree>
      <p:nvGrpSpPr>
        <p:cNvPr id="1" name=""/>
        <p:cNvGrpSpPr/>
        <p:nvPr/>
      </p:nvGrpSpPr>
      <p:grpSpPr>
        <a:xfrm>
          <a:off x="0" y="0"/>
          <a:ext cx="0" cy="0"/>
          <a:chOff x="0" y="0"/>
          <a:chExt cx="0" cy="0"/>
        </a:xfrm>
      </p:grpSpPr>
      <p:sp>
        <p:nvSpPr>
          <p:cNvPr id="2" name="HeaderBar"/>
          <p:cNvSpPr/>
          <p:nvPr/>
        </p:nvSpPr>
        <p:spPr>
          <a:xfrm>
            <a:off x="0" y="0"/>
            <a:ext cx="9144000" cy="1005840"/>
          </a:xfrm>
          <a:prstGeom prst="rect">
            <a:avLst/>
          </a:prstGeom>
          <a:solidFill>
            <a:srgbClr val="1A2E45"/>
          </a:solidFill>
          <a:ln/>
        </p:spPr>
        <p:txBody>
          <a:bodyPr/>
          <a:lstStyle/>
          <a:p>
            <a:endParaRPr lang="en-US"/>
          </a:p>
        </p:txBody>
      </p:sp>
      <p:sp>
        <p:nvSpPr>
          <p:cNvPr id="4" name="Title"/>
          <p:cNvSpPr/>
          <p:nvPr/>
        </p:nvSpPr>
        <p:spPr>
          <a:xfrm>
            <a:off x="411480" y="182880"/>
            <a:ext cx="8503920" cy="640080"/>
          </a:xfrm>
          <a:prstGeom prst="rect">
            <a:avLst/>
          </a:prstGeom>
          <a:noFill/>
          <a:ln/>
        </p:spPr>
        <p:txBody>
          <a:bodyPr wrap="square" rtlCol="0" anchor="ctr"/>
          <a:lstStyle/>
          <a:p>
            <a:pPr marL="0" indent="0">
              <a:buNone/>
            </a:pPr>
            <a:r>
              <a:rPr lang="en-US" sz="2600" b="1" dirty="0">
                <a:solidFill>
                  <a:srgbClr val="FFFFFF"/>
                </a:solidFill>
                <a:latin typeface="Calibri" pitchFamily="34" charset="0"/>
              </a:rPr>
              <a:t>Market Demand for DevOps</a:t>
            </a:r>
          </a:p>
        </p:txBody>
      </p:sp>
      <p:sp>
        <p:nvSpPr>
          <p:cNvPr id="10" name="Card10"/>
          <p:cNvSpPr/>
          <p:nvPr/>
        </p:nvSpPr>
        <p:spPr>
          <a:xfrm>
            <a:off x="228600" y="1100000"/>
            <a:ext cx="4229100" cy="1870000"/>
          </a:xfrm>
          <a:prstGeom prst="rect">
            <a:avLst/>
          </a:prstGeom>
          <a:solidFill>
            <a:srgbClr val="162234"/>
          </a:solidFill>
          <a:ln w="25400">
            <a:solidFill>
              <a:srgbClr val="F5A623"/>
            </a:solidFill>
          </a:ln>
        </p:spPr>
        <p:txBody>
          <a:bodyPr/>
          <a:lstStyle/>
          <a:p>
            <a:endParaRPr lang="en-US"/>
          </a:p>
        </p:txBody>
      </p:sp>
      <p:sp>
        <p:nvSpPr>
          <p:cNvPr id="110" name="AccentBar10"/>
          <p:cNvSpPr/>
          <p:nvPr/>
        </p:nvSpPr>
        <p:spPr>
          <a:xfrm>
            <a:off x="228600" y="1100000"/>
            <a:ext cx="4229100" cy="160000"/>
          </a:xfrm>
          <a:prstGeom prst="rect">
            <a:avLst/>
          </a:prstGeom>
          <a:solidFill>
            <a:srgbClr val="F5A623"/>
          </a:solidFill>
          <a:ln/>
        </p:spPr>
        <p:txBody>
          <a:bodyPr/>
          <a:lstStyle/>
          <a:p>
            <a:endParaRPr lang="en-US"/>
          </a:p>
        </p:txBody>
      </p:sp>
      <p:sp>
        <p:nvSpPr>
          <p:cNvPr id="210" name="CardTitle10"/>
          <p:cNvSpPr/>
          <p:nvPr/>
        </p:nvSpPr>
        <p:spPr>
          <a:xfrm>
            <a:off x="338600" y="1360000"/>
            <a:ext cx="4009100" cy="300000"/>
          </a:xfrm>
          <a:prstGeom prst="rect">
            <a:avLst/>
          </a:prstGeom>
          <a:noFill/>
          <a:ln/>
        </p:spPr>
        <p:txBody>
          <a:bodyPr wrap="square" rtlCol="0" anchor="ctr"/>
          <a:lstStyle/>
          <a:p>
            <a:pPr marL="0" indent="0">
              <a:buNone/>
            </a:pPr>
            <a:r>
              <a:rPr lang="en-US" sz="1600" b="1" dirty="0">
                <a:solidFill>
                  <a:srgbClr val="FFFFFF"/>
                </a:solidFill>
                <a:latin typeface="Calibri" pitchFamily="34" charset="0"/>
              </a:rPr>
              <a:t>Software Moves Fast</a:t>
            </a:r>
          </a:p>
        </p:txBody>
      </p:sp>
      <p:sp>
        <p:nvSpPr>
          <p:cNvPr id="310" name="CardBody10"/>
          <p:cNvSpPr/>
          <p:nvPr/>
        </p:nvSpPr>
        <p:spPr>
          <a:xfrm>
            <a:off x="338600" y="1680000"/>
            <a:ext cx="4009100" cy="1210000"/>
          </a:xfrm>
          <a:prstGeom prst="rect">
            <a:avLst/>
          </a:prstGeom>
          <a:noFill/>
          <a:ln/>
        </p:spPr>
        <p:txBody>
          <a:bodyPr wrap="square" rtlCol="0" anchor="t"/>
          <a:lstStyle/>
          <a:p>
            <a:pPr marL="0" indent="0">
              <a:buNone/>
            </a:pPr>
            <a:r>
              <a:rPr lang="en-US" sz="1200" dirty="0">
                <a:solidFill>
                  <a:srgbClr val="A8C0D6"/>
                </a:solidFill>
                <a:latin typeface="Calibri" pitchFamily="34" charset="0"/>
              </a:rPr>
              <a:t>Companies now expect daily updates. Release cycles measured in months are a competitive risk.</a:t>
            </a:r>
          </a:p>
        </p:txBody>
      </p:sp>
      <p:sp>
        <p:nvSpPr>
          <p:cNvPr id="20" name="Card20"/>
          <p:cNvSpPr/>
          <p:nvPr/>
        </p:nvSpPr>
        <p:spPr>
          <a:xfrm>
            <a:off x="4686300" y="1100000"/>
            <a:ext cx="4229100" cy="1870000"/>
          </a:xfrm>
          <a:prstGeom prst="rect">
            <a:avLst/>
          </a:prstGeom>
          <a:solidFill>
            <a:srgbClr val="162234"/>
          </a:solidFill>
          <a:ln w="25400">
            <a:solidFill>
              <a:srgbClr val="E74C3C"/>
            </a:solidFill>
          </a:ln>
        </p:spPr>
        <p:txBody>
          <a:bodyPr/>
          <a:lstStyle/>
          <a:p>
            <a:endParaRPr lang="en-US"/>
          </a:p>
        </p:txBody>
      </p:sp>
      <p:sp>
        <p:nvSpPr>
          <p:cNvPr id="120" name="AccentBar20"/>
          <p:cNvSpPr/>
          <p:nvPr/>
        </p:nvSpPr>
        <p:spPr>
          <a:xfrm>
            <a:off x="4686300" y="1100000"/>
            <a:ext cx="4229100" cy="160000"/>
          </a:xfrm>
          <a:prstGeom prst="rect">
            <a:avLst/>
          </a:prstGeom>
          <a:solidFill>
            <a:srgbClr val="E74C3C"/>
          </a:solidFill>
          <a:ln/>
        </p:spPr>
        <p:txBody>
          <a:bodyPr/>
          <a:lstStyle/>
          <a:p>
            <a:endParaRPr lang="en-US"/>
          </a:p>
        </p:txBody>
      </p:sp>
      <p:sp>
        <p:nvSpPr>
          <p:cNvPr id="220" name="CardTitle20"/>
          <p:cNvSpPr/>
          <p:nvPr/>
        </p:nvSpPr>
        <p:spPr>
          <a:xfrm>
            <a:off x="4796300" y="1360000"/>
            <a:ext cx="4009100" cy="300000"/>
          </a:xfrm>
          <a:prstGeom prst="rect">
            <a:avLst/>
          </a:prstGeom>
          <a:noFill/>
          <a:ln/>
        </p:spPr>
        <p:txBody>
          <a:bodyPr wrap="square" rtlCol="0" anchor="ctr"/>
          <a:lstStyle/>
          <a:p>
            <a:pPr marL="0" indent="0">
              <a:buNone/>
            </a:pPr>
            <a:r>
              <a:rPr lang="en-US" sz="1600" b="1" dirty="0">
                <a:solidFill>
                  <a:srgbClr val="FFFFFF"/>
                </a:solidFill>
                <a:latin typeface="Calibri" pitchFamily="34" charset="0"/>
              </a:rPr>
              <a:t>Cloud &amp; Agile Are Standard</a:t>
            </a:r>
          </a:p>
        </p:txBody>
      </p:sp>
      <p:sp>
        <p:nvSpPr>
          <p:cNvPr id="320" name="CardBody20"/>
          <p:cNvSpPr/>
          <p:nvPr/>
        </p:nvSpPr>
        <p:spPr>
          <a:xfrm>
            <a:off x="4796300" y="1680000"/>
            <a:ext cx="4009100" cy="1210000"/>
          </a:xfrm>
          <a:prstGeom prst="rect">
            <a:avLst/>
          </a:prstGeom>
          <a:noFill/>
          <a:ln/>
        </p:spPr>
        <p:txBody>
          <a:bodyPr wrap="square" rtlCol="0" anchor="t"/>
          <a:lstStyle/>
          <a:p>
            <a:pPr marL="0" indent="0">
              <a:buNone/>
            </a:pPr>
            <a:r>
              <a:rPr lang="en-US" sz="1200" dirty="0">
                <a:solidFill>
                  <a:srgbClr val="A8C0D6"/>
                </a:solidFill>
                <a:latin typeface="Calibri" pitchFamily="34" charset="0"/>
              </a:rPr>
              <a:t>Cloud computing and agile teams are now the norm. DevOps plugs right into this way of working.</a:t>
            </a:r>
          </a:p>
        </p:txBody>
      </p:sp>
      <p:sp>
        <p:nvSpPr>
          <p:cNvPr id="30" name="Card30"/>
          <p:cNvSpPr/>
          <p:nvPr/>
        </p:nvSpPr>
        <p:spPr>
          <a:xfrm>
            <a:off x="228600" y="3050000"/>
            <a:ext cx="4229100" cy="1870000"/>
          </a:xfrm>
          <a:prstGeom prst="rect">
            <a:avLst/>
          </a:prstGeom>
          <a:solidFill>
            <a:srgbClr val="162234"/>
          </a:solidFill>
          <a:ln w="25400">
            <a:solidFill>
              <a:srgbClr val="00C9B1"/>
            </a:solidFill>
          </a:ln>
        </p:spPr>
        <p:txBody>
          <a:bodyPr/>
          <a:lstStyle/>
          <a:p>
            <a:endParaRPr lang="en-US"/>
          </a:p>
        </p:txBody>
      </p:sp>
      <p:sp>
        <p:nvSpPr>
          <p:cNvPr id="130" name="AccentBar30"/>
          <p:cNvSpPr/>
          <p:nvPr/>
        </p:nvSpPr>
        <p:spPr>
          <a:xfrm>
            <a:off x="228600" y="3050000"/>
            <a:ext cx="4229100" cy="160000"/>
          </a:xfrm>
          <a:prstGeom prst="rect">
            <a:avLst/>
          </a:prstGeom>
          <a:solidFill>
            <a:srgbClr val="00C9B1"/>
          </a:solidFill>
          <a:ln/>
        </p:spPr>
        <p:txBody>
          <a:bodyPr/>
          <a:lstStyle/>
          <a:p>
            <a:endParaRPr lang="en-US"/>
          </a:p>
        </p:txBody>
      </p:sp>
      <p:sp>
        <p:nvSpPr>
          <p:cNvPr id="230" name="CardTitle30"/>
          <p:cNvSpPr/>
          <p:nvPr/>
        </p:nvSpPr>
        <p:spPr>
          <a:xfrm>
            <a:off x="338600" y="3310000"/>
            <a:ext cx="4009100" cy="300000"/>
          </a:xfrm>
          <a:prstGeom prst="rect">
            <a:avLst/>
          </a:prstGeom>
          <a:noFill/>
          <a:ln/>
        </p:spPr>
        <p:txBody>
          <a:bodyPr wrap="square" rtlCol="0" anchor="ctr"/>
          <a:lstStyle/>
          <a:p>
            <a:pPr marL="0" indent="0">
              <a:buNone/>
            </a:pPr>
            <a:r>
              <a:rPr lang="en-US" sz="1600" b="1" dirty="0">
                <a:solidFill>
                  <a:srgbClr val="FFFFFF"/>
                </a:solidFill>
                <a:latin typeface="Calibri" pitchFamily="34" charset="0"/>
              </a:rPr>
              <a:t>Industry Giants Lead the Way</a:t>
            </a:r>
          </a:p>
        </p:txBody>
      </p:sp>
      <p:sp>
        <p:nvSpPr>
          <p:cNvPr id="330" name="CardBody30"/>
          <p:cNvSpPr/>
          <p:nvPr/>
        </p:nvSpPr>
        <p:spPr>
          <a:xfrm>
            <a:off x="338600" y="3630000"/>
            <a:ext cx="4009100" cy="1210000"/>
          </a:xfrm>
          <a:prstGeom prst="rect">
            <a:avLst/>
          </a:prstGeom>
          <a:noFill/>
          <a:ln/>
        </p:spPr>
        <p:txBody>
          <a:bodyPr wrap="square" rtlCol="0" anchor="t"/>
          <a:lstStyle/>
          <a:p>
            <a:pPr marL="0" indent="0">
              <a:buNone/>
            </a:pPr>
            <a:r>
              <a:rPr lang="en-US" sz="1200" dirty="0">
                <a:solidFill>
                  <a:srgbClr val="A8C0D6"/>
                </a:solidFill>
                <a:latin typeface="Calibri" pitchFamily="34" charset="0"/>
              </a:rPr>
              <a:t>Amazon deploys every 11 seconds. Netflix runs 700+ microservices. DevOps makes this scale possible.</a:t>
            </a:r>
          </a:p>
        </p:txBody>
      </p:sp>
      <p:sp>
        <p:nvSpPr>
          <p:cNvPr id="40" name="Card40"/>
          <p:cNvSpPr/>
          <p:nvPr/>
        </p:nvSpPr>
        <p:spPr>
          <a:xfrm>
            <a:off x="4686300" y="3050000"/>
            <a:ext cx="4229100" cy="1870000"/>
          </a:xfrm>
          <a:prstGeom prst="rect">
            <a:avLst/>
          </a:prstGeom>
          <a:solidFill>
            <a:srgbClr val="162234"/>
          </a:solidFill>
          <a:ln w="25400">
            <a:solidFill>
              <a:srgbClr val="9B59B6"/>
            </a:solidFill>
          </a:ln>
        </p:spPr>
        <p:txBody>
          <a:bodyPr/>
          <a:lstStyle/>
          <a:p>
            <a:endParaRPr lang="en-US"/>
          </a:p>
        </p:txBody>
      </p:sp>
      <p:sp>
        <p:nvSpPr>
          <p:cNvPr id="140" name="AccentBar40"/>
          <p:cNvSpPr/>
          <p:nvPr/>
        </p:nvSpPr>
        <p:spPr>
          <a:xfrm>
            <a:off x="4686300" y="3050000"/>
            <a:ext cx="4229100" cy="160000"/>
          </a:xfrm>
          <a:prstGeom prst="rect">
            <a:avLst/>
          </a:prstGeom>
          <a:solidFill>
            <a:srgbClr val="9B59B6"/>
          </a:solidFill>
          <a:ln/>
        </p:spPr>
        <p:txBody>
          <a:bodyPr/>
          <a:lstStyle/>
          <a:p>
            <a:endParaRPr lang="en-US"/>
          </a:p>
        </p:txBody>
      </p:sp>
      <p:sp>
        <p:nvSpPr>
          <p:cNvPr id="240" name="CardTitle40"/>
          <p:cNvSpPr/>
          <p:nvPr/>
        </p:nvSpPr>
        <p:spPr>
          <a:xfrm>
            <a:off x="4796300" y="3310000"/>
            <a:ext cx="4009100" cy="300000"/>
          </a:xfrm>
          <a:prstGeom prst="rect">
            <a:avLst/>
          </a:prstGeom>
          <a:noFill/>
          <a:ln/>
        </p:spPr>
        <p:txBody>
          <a:bodyPr wrap="square" rtlCol="0" anchor="ctr"/>
          <a:lstStyle/>
          <a:p>
            <a:pPr marL="0" indent="0">
              <a:buNone/>
            </a:pPr>
            <a:r>
              <a:rPr lang="en-US" sz="1600" b="1" dirty="0">
                <a:solidFill>
                  <a:srgbClr val="FFFFFF"/>
                </a:solidFill>
                <a:latin typeface="Calibri" pitchFamily="34" charset="0"/>
              </a:rPr>
              <a:t>High Career Demand</a:t>
            </a:r>
          </a:p>
        </p:txBody>
      </p:sp>
      <p:sp>
        <p:nvSpPr>
          <p:cNvPr id="340" name="CardBody40"/>
          <p:cNvSpPr/>
          <p:nvPr/>
        </p:nvSpPr>
        <p:spPr>
          <a:xfrm>
            <a:off x="4796300" y="3630000"/>
            <a:ext cx="4009100" cy="1210000"/>
          </a:xfrm>
          <a:prstGeom prst="rect">
            <a:avLst/>
          </a:prstGeom>
          <a:noFill/>
          <a:ln/>
        </p:spPr>
        <p:txBody>
          <a:bodyPr wrap="square" rtlCol="0" anchor="t"/>
          <a:lstStyle/>
          <a:p>
            <a:pPr marL="0" indent="0">
              <a:buNone/>
            </a:pPr>
            <a:r>
              <a:rPr lang="en-US" sz="1200" dirty="0">
                <a:solidFill>
                  <a:srgbClr val="A8C0D6"/>
                </a:solidFill>
                <a:latin typeface="Calibri" pitchFamily="34" charset="0"/>
              </a:rPr>
              <a:t>DevOps engineers rank among the highest-paid in tech. Companies can't hire them fast enough.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E45"/>
          </a:solidFill>
          <a:ln/>
        </p:spPr>
        <p:txBody>
          <a:bodyPr/>
          <a:lstStyle/>
          <a:p>
            <a:endParaRPr lang="en-US"/>
          </a:p>
        </p:txBody>
      </p:sp>
      <p:sp>
        <p:nvSpPr>
          <p:cNvPr id="4" name="Text 2"/>
          <p:cNvSpPr/>
          <p:nvPr/>
        </p:nvSpPr>
        <p:spPr>
          <a:xfrm>
            <a:off x="411480" y="182880"/>
            <a:ext cx="8503920" cy="64008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The Business Reality of DevOps</a:t>
            </a:r>
            <a:endParaRPr lang="en-US" sz="2600" dirty="0"/>
          </a:p>
        </p:txBody>
      </p:sp>
      <p:sp>
        <p:nvSpPr>
          <p:cNvPr id="16" name="Text 14"/>
          <p:cNvSpPr/>
          <p:nvPr/>
        </p:nvSpPr>
        <p:spPr>
          <a:xfrm>
            <a:off x="457200" y="3730752"/>
            <a:ext cx="3749040" cy="914400"/>
          </a:xfrm>
          <a:prstGeom prst="rect">
            <a:avLst/>
          </a:prstGeom>
          <a:noFill/>
          <a:ln/>
        </p:spPr>
        <p:txBody>
          <a:bodyPr wrap="square" rtlCol="0" anchor="ctr"/>
          <a:lstStyle/>
          <a:p>
            <a:pPr marL="0" indent="0">
              <a:buNone/>
            </a:pPr>
            <a:endParaRPr lang="en-US" sz="1100" dirty="0"/>
          </a:p>
        </p:txBody>
      </p:sp>
      <p:sp>
        <p:nvSpPr>
          <p:cNvPr id="19" name="Text 17"/>
          <p:cNvSpPr/>
          <p:nvPr/>
        </p:nvSpPr>
        <p:spPr>
          <a:xfrm>
            <a:off x="4754880" y="3337560"/>
            <a:ext cx="3749040" cy="365760"/>
          </a:xfrm>
          <a:prstGeom prst="rect">
            <a:avLst/>
          </a:prstGeom>
          <a:noFill/>
          <a:ln/>
        </p:spPr>
        <p:txBody>
          <a:bodyPr wrap="square" rtlCol="0" anchor="ctr"/>
          <a:lstStyle/>
          <a:p>
            <a:pPr marL="0" indent="0">
              <a:buNone/>
            </a:pPr>
            <a:endParaRPr lang="en-US" sz="1400" dirty="0"/>
          </a:p>
        </p:txBody>
      </p:sp>
      <p:sp>
        <p:nvSpPr>
          <p:cNvPr id="20" name="Text 18"/>
          <p:cNvSpPr/>
          <p:nvPr/>
        </p:nvSpPr>
        <p:spPr>
          <a:xfrm>
            <a:off x="4754880" y="3730752"/>
            <a:ext cx="3749040" cy="914400"/>
          </a:xfrm>
          <a:prstGeom prst="rect">
            <a:avLst/>
          </a:prstGeom>
          <a:noFill/>
          <a:ln/>
        </p:spPr>
        <p:txBody>
          <a:bodyPr wrap="square" rtlCol="0" anchor="ctr"/>
          <a:lstStyle/>
          <a:p>
            <a:pPr marL="0" indent="0">
              <a:buNone/>
            </a:pPr>
            <a:endParaRPr lang="en-US" sz="1100" dirty="0"/>
          </a:p>
        </p:txBody>
      </p:sp>
      <p:pic>
        <p:nvPicPr>
          <p:cNvPr id="21" name="Picture 20">
            <a:extLst>
              <a:ext uri="{FF2B5EF4-FFF2-40B4-BE49-F238E27FC236}">
                <a16:creationId xmlns:a16="http://schemas.microsoft.com/office/drawing/2014/main" id="{4A95A1F6-3D21-6E8B-6D5F-CC9BA73696A7}"/>
              </a:ext>
            </a:extLst>
          </p:cNvPr>
          <p:cNvPicPr>
            <a:picLocks noChangeAspect="1"/>
          </p:cNvPicPr>
          <p:nvPr/>
        </p:nvPicPr>
        <p:blipFill>
          <a:blip r:embed="rId3"/>
          <a:stretch>
            <a:fillRect/>
          </a:stretch>
        </p:blipFill>
        <p:spPr>
          <a:xfrm>
            <a:off x="274319" y="1113064"/>
            <a:ext cx="8739051" cy="386683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E45"/>
          </a:solidFill>
          <a:ln/>
        </p:spPr>
        <p:txBody>
          <a:bodyPr/>
          <a:lstStyle/>
          <a:p>
            <a:endParaRPr lang="en-US"/>
          </a:p>
        </p:txBody>
      </p:sp>
      <p:sp>
        <p:nvSpPr>
          <p:cNvPr id="4" name="Text 2"/>
          <p:cNvSpPr/>
          <p:nvPr/>
        </p:nvSpPr>
        <p:spPr>
          <a:xfrm>
            <a:off x="411480" y="182880"/>
            <a:ext cx="8503920" cy="64008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What DevOps Actually Means</a:t>
            </a:r>
            <a:endParaRPr lang="en-US" sz="2600" dirty="0"/>
          </a:p>
        </p:txBody>
      </p:sp>
      <p:sp>
        <p:nvSpPr>
          <p:cNvPr id="6" name="Text 4"/>
          <p:cNvSpPr/>
          <p:nvPr/>
        </p:nvSpPr>
        <p:spPr>
          <a:xfrm>
            <a:off x="457200" y="1005840"/>
            <a:ext cx="731520" cy="822960"/>
          </a:xfrm>
          <a:prstGeom prst="rect">
            <a:avLst/>
          </a:prstGeom>
          <a:noFill/>
          <a:ln/>
        </p:spPr>
        <p:txBody>
          <a:bodyPr wrap="square" rtlCol="0" anchor="ctr"/>
          <a:lstStyle/>
          <a:p>
            <a:pPr marL="0" indent="0">
              <a:buNone/>
            </a:pPr>
            <a:endParaRPr lang="en-US" sz="7200" dirty="0"/>
          </a:p>
        </p:txBody>
      </p:sp>
      <p:sp>
        <p:nvSpPr>
          <p:cNvPr id="7" name="Text 5"/>
          <p:cNvSpPr/>
          <p:nvPr/>
        </p:nvSpPr>
        <p:spPr>
          <a:xfrm>
            <a:off x="457200" y="1645920"/>
            <a:ext cx="3749040" cy="2743200"/>
          </a:xfrm>
          <a:prstGeom prst="rect">
            <a:avLst/>
          </a:prstGeom>
          <a:noFill/>
          <a:ln/>
        </p:spPr>
        <p:txBody>
          <a:bodyPr wrap="square" rtlCol="0" anchor="ctr"/>
          <a:lstStyle/>
          <a:p>
            <a:pPr marL="0" indent="0">
              <a:buNone/>
            </a:pPr>
            <a:endParaRPr lang="en-US" sz="1300" dirty="0"/>
          </a:p>
        </p:txBody>
      </p:sp>
      <p:sp>
        <p:nvSpPr>
          <p:cNvPr id="10" name="Text 8"/>
          <p:cNvSpPr/>
          <p:nvPr/>
        </p:nvSpPr>
        <p:spPr>
          <a:xfrm>
            <a:off x="4892040" y="1234440"/>
            <a:ext cx="3749040" cy="365760"/>
          </a:xfrm>
          <a:prstGeom prst="rect">
            <a:avLst/>
          </a:prstGeom>
          <a:noFill/>
          <a:ln/>
        </p:spPr>
        <p:txBody>
          <a:bodyPr wrap="square" rtlCol="0" anchor="ctr"/>
          <a:lstStyle/>
          <a:p>
            <a:pPr marL="0" indent="0">
              <a:buNone/>
            </a:pPr>
            <a:endParaRPr lang="en-US" sz="1400" dirty="0"/>
          </a:p>
        </p:txBody>
      </p:sp>
      <p:sp>
        <p:nvSpPr>
          <p:cNvPr id="11" name="Text 9"/>
          <p:cNvSpPr/>
          <p:nvPr/>
        </p:nvSpPr>
        <p:spPr>
          <a:xfrm>
            <a:off x="4892040" y="1600200"/>
            <a:ext cx="3749040" cy="594360"/>
          </a:xfrm>
          <a:prstGeom prst="rect">
            <a:avLst/>
          </a:prstGeom>
          <a:noFill/>
          <a:ln/>
        </p:spPr>
        <p:txBody>
          <a:bodyPr wrap="square" rtlCol="0" anchor="ctr"/>
          <a:lstStyle/>
          <a:p>
            <a:pPr marL="0" indent="0">
              <a:buNone/>
            </a:pPr>
            <a:endParaRPr lang="en-US" sz="1100" dirty="0"/>
          </a:p>
        </p:txBody>
      </p:sp>
      <p:sp>
        <p:nvSpPr>
          <p:cNvPr id="14" name="Text 12"/>
          <p:cNvSpPr/>
          <p:nvPr/>
        </p:nvSpPr>
        <p:spPr>
          <a:xfrm>
            <a:off x="4892040" y="2468880"/>
            <a:ext cx="3749040" cy="365760"/>
          </a:xfrm>
          <a:prstGeom prst="rect">
            <a:avLst/>
          </a:prstGeom>
          <a:noFill/>
          <a:ln/>
        </p:spPr>
        <p:txBody>
          <a:bodyPr wrap="square" rtlCol="0" anchor="ctr"/>
          <a:lstStyle/>
          <a:p>
            <a:pPr marL="0" indent="0">
              <a:buNone/>
            </a:pPr>
            <a:endParaRPr lang="en-US" sz="1400" dirty="0"/>
          </a:p>
        </p:txBody>
      </p:sp>
      <p:sp>
        <p:nvSpPr>
          <p:cNvPr id="15" name="Text 13"/>
          <p:cNvSpPr/>
          <p:nvPr/>
        </p:nvSpPr>
        <p:spPr>
          <a:xfrm>
            <a:off x="4892040" y="2834640"/>
            <a:ext cx="3749040" cy="594360"/>
          </a:xfrm>
          <a:prstGeom prst="rect">
            <a:avLst/>
          </a:prstGeom>
          <a:noFill/>
          <a:ln/>
        </p:spPr>
        <p:txBody>
          <a:bodyPr wrap="square" rtlCol="0" anchor="ctr"/>
          <a:lstStyle/>
          <a:p>
            <a:pPr marL="0" indent="0">
              <a:buNone/>
            </a:pPr>
            <a:endParaRPr lang="en-US" sz="1100" dirty="0"/>
          </a:p>
        </p:txBody>
      </p:sp>
      <p:sp>
        <p:nvSpPr>
          <p:cNvPr id="18" name="Text 16"/>
          <p:cNvSpPr/>
          <p:nvPr/>
        </p:nvSpPr>
        <p:spPr>
          <a:xfrm>
            <a:off x="4892040" y="3703320"/>
            <a:ext cx="3749040" cy="365760"/>
          </a:xfrm>
          <a:prstGeom prst="rect">
            <a:avLst/>
          </a:prstGeom>
          <a:noFill/>
          <a:ln/>
        </p:spPr>
        <p:txBody>
          <a:bodyPr wrap="square" rtlCol="0" anchor="ctr"/>
          <a:lstStyle/>
          <a:p>
            <a:pPr marL="0" indent="0">
              <a:buNone/>
            </a:pPr>
            <a:endParaRPr lang="en-US" sz="1400" dirty="0"/>
          </a:p>
        </p:txBody>
      </p:sp>
      <p:sp>
        <p:nvSpPr>
          <p:cNvPr id="19" name="Text 17"/>
          <p:cNvSpPr/>
          <p:nvPr/>
        </p:nvSpPr>
        <p:spPr>
          <a:xfrm>
            <a:off x="4892040" y="4069080"/>
            <a:ext cx="3749040" cy="594360"/>
          </a:xfrm>
          <a:prstGeom prst="rect">
            <a:avLst/>
          </a:prstGeom>
          <a:noFill/>
          <a:ln/>
        </p:spPr>
        <p:txBody>
          <a:bodyPr wrap="square" rtlCol="0" anchor="ctr"/>
          <a:lstStyle/>
          <a:p>
            <a:pPr marL="0" indent="0">
              <a:buNone/>
            </a:pPr>
            <a:endParaRPr lang="en-US" sz="1100" dirty="0"/>
          </a:p>
        </p:txBody>
      </p:sp>
      <p:pic>
        <p:nvPicPr>
          <p:cNvPr id="21" name="Picture 20">
            <a:extLst>
              <a:ext uri="{FF2B5EF4-FFF2-40B4-BE49-F238E27FC236}">
                <a16:creationId xmlns:a16="http://schemas.microsoft.com/office/drawing/2014/main" id="{AB231A7D-3671-65AD-A225-AC2D311DDD2E}"/>
              </a:ext>
            </a:extLst>
          </p:cNvPr>
          <p:cNvPicPr>
            <a:picLocks noChangeAspect="1"/>
          </p:cNvPicPr>
          <p:nvPr/>
        </p:nvPicPr>
        <p:blipFill>
          <a:blip r:embed="rId3"/>
          <a:stretch>
            <a:fillRect/>
          </a:stretch>
        </p:blipFill>
        <p:spPr>
          <a:xfrm>
            <a:off x="249382" y="1109702"/>
            <a:ext cx="8666018" cy="385091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E45"/>
          </a:solidFill>
          <a:ln/>
        </p:spPr>
        <p:txBody>
          <a:bodyPr/>
          <a:lstStyle/>
          <a:p>
            <a:endParaRPr lang="en-US"/>
          </a:p>
        </p:txBody>
      </p:sp>
      <p:sp>
        <p:nvSpPr>
          <p:cNvPr id="4" name="Text 2"/>
          <p:cNvSpPr/>
          <p:nvPr/>
        </p:nvSpPr>
        <p:spPr>
          <a:xfrm>
            <a:off x="411480" y="137160"/>
            <a:ext cx="8503920" cy="64008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The DevOps Lifecycle — End to End</a:t>
            </a:r>
            <a:endParaRPr lang="en-US" sz="2600" dirty="0"/>
          </a:p>
        </p:txBody>
      </p:sp>
      <p:pic>
        <p:nvPicPr>
          <p:cNvPr id="46" name="Picture 45">
            <a:extLst>
              <a:ext uri="{FF2B5EF4-FFF2-40B4-BE49-F238E27FC236}">
                <a16:creationId xmlns:a16="http://schemas.microsoft.com/office/drawing/2014/main" id="{1EB65F13-B880-AA6D-C3AB-AF84B94F8BA4}"/>
              </a:ext>
            </a:extLst>
          </p:cNvPr>
          <p:cNvPicPr>
            <a:picLocks noChangeAspect="1"/>
          </p:cNvPicPr>
          <p:nvPr/>
        </p:nvPicPr>
        <p:blipFill>
          <a:blip r:embed="rId3"/>
          <a:stretch>
            <a:fillRect/>
          </a:stretch>
        </p:blipFill>
        <p:spPr>
          <a:xfrm>
            <a:off x="4138492" y="1260270"/>
            <a:ext cx="4936912" cy="2722121"/>
          </a:xfrm>
          <a:prstGeom prst="rect">
            <a:avLst/>
          </a:prstGeom>
        </p:spPr>
      </p:pic>
      <p:pic>
        <p:nvPicPr>
          <p:cNvPr id="48" name="Picture 47">
            <a:extLst>
              <a:ext uri="{FF2B5EF4-FFF2-40B4-BE49-F238E27FC236}">
                <a16:creationId xmlns:a16="http://schemas.microsoft.com/office/drawing/2014/main" id="{4F926172-D8A1-BA74-C6E6-0A53F4CADD43}"/>
              </a:ext>
            </a:extLst>
          </p:cNvPr>
          <p:cNvPicPr>
            <a:picLocks noChangeAspect="1"/>
          </p:cNvPicPr>
          <p:nvPr/>
        </p:nvPicPr>
        <p:blipFill>
          <a:blip r:embed="rId4"/>
          <a:srcRect b="12736"/>
          <a:stretch>
            <a:fillRect/>
          </a:stretch>
        </p:blipFill>
        <p:spPr>
          <a:xfrm>
            <a:off x="68596" y="1319274"/>
            <a:ext cx="4108199" cy="250495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Improved Collaboration">
    <p:bg>
      <p:bgPr>
        <a:solidFill>
          <a:srgbClr val="0D1B2A"/>
        </a:solidFill>
        <a:effectLst/>
      </p:bgPr>
    </p:bg>
    <p:spTree>
      <p:nvGrpSpPr>
        <p:cNvPr id="1" name=""/>
        <p:cNvGrpSpPr/>
        <p:nvPr/>
      </p:nvGrpSpPr>
      <p:grpSpPr>
        <a:xfrm>
          <a:off x="0" y="0"/>
          <a:ext cx="0" cy="0"/>
          <a:chOff x="0" y="0"/>
          <a:chExt cx="0" cy="0"/>
        </a:xfrm>
      </p:grpSpPr>
      <p:sp>
        <p:nvSpPr>
          <p:cNvPr id="2" name="HeaderBar"/>
          <p:cNvSpPr/>
          <p:nvPr/>
        </p:nvSpPr>
        <p:spPr>
          <a:xfrm>
            <a:off x="0" y="0"/>
            <a:ext cx="9144000" cy="1005840"/>
          </a:xfrm>
          <a:prstGeom prst="rect">
            <a:avLst/>
          </a:prstGeom>
          <a:solidFill>
            <a:srgbClr val="1A2E45"/>
          </a:solidFill>
          <a:ln/>
        </p:spPr>
        <p:txBody>
          <a:bodyPr/>
          <a:lstStyle/>
          <a:p>
            <a:endParaRPr lang="en-US"/>
          </a:p>
        </p:txBody>
      </p:sp>
      <p:sp>
        <p:nvSpPr>
          <p:cNvPr id="4" name="Title"/>
          <p:cNvSpPr/>
          <p:nvPr/>
        </p:nvSpPr>
        <p:spPr>
          <a:xfrm>
            <a:off x="411480" y="182880"/>
            <a:ext cx="8503920" cy="640080"/>
          </a:xfrm>
          <a:prstGeom prst="rect">
            <a:avLst/>
          </a:prstGeom>
          <a:noFill/>
          <a:ln/>
        </p:spPr>
        <p:txBody>
          <a:bodyPr wrap="square" rtlCol="0" anchor="ctr"/>
          <a:lstStyle/>
          <a:p>
            <a:pPr marL="0" indent="0">
              <a:buNone/>
            </a:pPr>
            <a:r>
              <a:rPr lang="en-US" sz="2600" b="1" dirty="0">
                <a:solidFill>
                  <a:srgbClr val="FFFFFF"/>
                </a:solidFill>
                <a:latin typeface="Calibri" pitchFamily="34" charset="0"/>
              </a:rPr>
              <a:t>Improved Collaboration</a:t>
            </a:r>
          </a:p>
        </p:txBody>
      </p:sp>
      <p:sp>
        <p:nvSpPr>
          <p:cNvPr id="10" name="Panel10"/>
          <p:cNvSpPr/>
          <p:nvPr/>
        </p:nvSpPr>
        <p:spPr>
          <a:xfrm>
            <a:off x="228600" y="1090000"/>
            <a:ext cx="4229100" cy="3800000"/>
          </a:xfrm>
          <a:prstGeom prst="rect">
            <a:avLst/>
          </a:prstGeom>
          <a:solidFill>
            <a:srgbClr val="162234"/>
          </a:solidFill>
          <a:ln w="25400">
            <a:solidFill>
              <a:srgbClr val="00C9B1"/>
            </a:solidFill>
          </a:ln>
        </p:spPr>
        <p:txBody>
          <a:bodyPr/>
          <a:lstStyle/>
          <a:p>
            <a:endParaRPr lang="en-US"/>
          </a:p>
        </p:txBody>
      </p:sp>
      <p:sp>
        <p:nvSpPr>
          <p:cNvPr id="110" name="PanelBar10"/>
          <p:cNvSpPr/>
          <p:nvPr/>
        </p:nvSpPr>
        <p:spPr>
          <a:xfrm>
            <a:off x="228600" y="1090000"/>
            <a:ext cx="4229100" cy="180000"/>
          </a:xfrm>
          <a:prstGeom prst="rect">
            <a:avLst/>
          </a:prstGeom>
          <a:solidFill>
            <a:srgbClr val="00C9B1"/>
          </a:solidFill>
          <a:ln/>
        </p:spPr>
        <p:txBody>
          <a:bodyPr/>
          <a:lstStyle/>
          <a:p>
            <a:endParaRPr lang="en-US"/>
          </a:p>
        </p:txBody>
      </p:sp>
      <p:sp>
        <p:nvSpPr>
          <p:cNvPr id="210" name="PanelHeader10"/>
          <p:cNvSpPr/>
          <p:nvPr/>
        </p:nvSpPr>
        <p:spPr>
          <a:xfrm>
            <a:off x="358600" y="1120000"/>
            <a:ext cx="3969100" cy="150000"/>
          </a:xfrm>
          <a:prstGeom prst="rect">
            <a:avLst/>
          </a:prstGeom>
          <a:noFill/>
          <a:ln/>
        </p:spPr>
        <p:txBody>
          <a:bodyPr wrap="square" rtlCol="0" anchor="ctr"/>
          <a:lstStyle/>
          <a:p>
            <a:pPr marL="0" indent="0">
              <a:buNone/>
            </a:pPr>
            <a:r>
              <a:rPr lang="en-US" sz="1600" b="1" dirty="0">
                <a:solidFill>
                  <a:srgbClr val="0D1B2A"/>
                </a:solidFill>
                <a:latin typeface="Calibri" pitchFamily="34" charset="0"/>
              </a:rPr>
              <a:t>HOW TEAMS CHANGE</a:t>
            </a:r>
          </a:p>
        </p:txBody>
      </p:sp>
      <p:sp>
        <p:nvSpPr>
          <p:cNvPr id="310" name="Item10_0"/>
          <p:cNvSpPr/>
          <p:nvPr/>
        </p:nvSpPr>
        <p:spPr>
          <a:xfrm>
            <a:off x="358600" y="1390000"/>
            <a:ext cx="3969100" cy="420000"/>
          </a:xfrm>
          <a:prstGeom prst="rect">
            <a:avLst/>
          </a:prstGeom>
          <a:noFill/>
          <a:ln/>
        </p:spPr>
        <p:txBody>
          <a:bodyPr wrap="square" rtlCol="0" anchor="ctr"/>
          <a:lstStyle/>
          <a:p>
            <a:pPr marL="0" indent="0">
              <a:buNone/>
            </a:pPr>
            <a:r>
              <a:rPr lang="en-US" sz="1300" dirty="0">
                <a:solidFill>
                  <a:srgbClr val="A8C0D6"/>
                </a:solidFill>
                <a:latin typeface="Calibri" pitchFamily="34" charset="0"/>
              </a:rPr>
              <a:t>●  Developers and Ops work side by side</a:t>
            </a:r>
          </a:p>
        </p:txBody>
      </p:sp>
      <p:sp>
        <p:nvSpPr>
          <p:cNvPr id="311" name="Item10_1"/>
          <p:cNvSpPr/>
          <p:nvPr/>
        </p:nvSpPr>
        <p:spPr>
          <a:xfrm>
            <a:off x="358600" y="1870000"/>
            <a:ext cx="3969100" cy="420000"/>
          </a:xfrm>
          <a:prstGeom prst="rect">
            <a:avLst/>
          </a:prstGeom>
          <a:noFill/>
          <a:ln/>
        </p:spPr>
        <p:txBody>
          <a:bodyPr wrap="square" rtlCol="0" anchor="ctr"/>
          <a:lstStyle/>
          <a:p>
            <a:pPr marL="0" indent="0">
              <a:buNone/>
            </a:pPr>
            <a:r>
              <a:rPr lang="en-US" sz="1300" dirty="0">
                <a:solidFill>
                  <a:srgbClr val="A8C0D6"/>
                </a:solidFill>
                <a:latin typeface="Calibri" pitchFamily="34" charset="0"/>
              </a:rPr>
              <a:t>●  Both teams own deployments together</a:t>
            </a:r>
          </a:p>
        </p:txBody>
      </p:sp>
      <p:sp>
        <p:nvSpPr>
          <p:cNvPr id="312" name="Item10_2"/>
          <p:cNvSpPr/>
          <p:nvPr/>
        </p:nvSpPr>
        <p:spPr>
          <a:xfrm>
            <a:off x="358600" y="2350000"/>
            <a:ext cx="3969100" cy="420000"/>
          </a:xfrm>
          <a:prstGeom prst="rect">
            <a:avLst/>
          </a:prstGeom>
          <a:noFill/>
          <a:ln/>
        </p:spPr>
        <p:txBody>
          <a:bodyPr wrap="square" rtlCol="0" anchor="ctr"/>
          <a:lstStyle/>
          <a:p>
            <a:pPr marL="0" indent="0">
              <a:buNone/>
            </a:pPr>
            <a:r>
              <a:rPr lang="en-US" sz="1300" dirty="0">
                <a:solidFill>
                  <a:srgbClr val="A8C0D6"/>
                </a:solidFill>
                <a:latin typeface="Calibri" pitchFamily="34" charset="0"/>
              </a:rPr>
              <a:t>●  Problems are solved as one unit</a:t>
            </a:r>
          </a:p>
        </p:txBody>
      </p:sp>
      <p:sp>
        <p:nvSpPr>
          <p:cNvPr id="313" name="Item10_3"/>
          <p:cNvSpPr/>
          <p:nvPr/>
        </p:nvSpPr>
        <p:spPr>
          <a:xfrm>
            <a:off x="358600" y="2830000"/>
            <a:ext cx="3969100" cy="420000"/>
          </a:xfrm>
          <a:prstGeom prst="rect">
            <a:avLst/>
          </a:prstGeom>
          <a:noFill/>
          <a:ln/>
        </p:spPr>
        <p:txBody>
          <a:bodyPr wrap="square" rtlCol="0" anchor="ctr"/>
          <a:lstStyle/>
          <a:p>
            <a:pPr marL="0" indent="0">
              <a:buNone/>
            </a:pPr>
            <a:r>
              <a:rPr lang="en-US" sz="1300" dirty="0">
                <a:solidFill>
                  <a:srgbClr val="A8C0D6"/>
                </a:solidFill>
                <a:latin typeface="Calibri" pitchFamily="34" charset="0"/>
              </a:rPr>
              <a:t>●  Shared responsibility for every release</a:t>
            </a:r>
          </a:p>
        </p:txBody>
      </p:sp>
      <p:sp>
        <p:nvSpPr>
          <p:cNvPr id="20" name="Panel20"/>
          <p:cNvSpPr/>
          <p:nvPr/>
        </p:nvSpPr>
        <p:spPr>
          <a:xfrm>
            <a:off x="4686300" y="1090000"/>
            <a:ext cx="4229100" cy="3800000"/>
          </a:xfrm>
          <a:prstGeom prst="rect">
            <a:avLst/>
          </a:prstGeom>
          <a:solidFill>
            <a:srgbClr val="162234"/>
          </a:solidFill>
          <a:ln w="25400">
            <a:solidFill>
              <a:srgbClr val="F5A623"/>
            </a:solidFill>
          </a:ln>
        </p:spPr>
        <p:txBody>
          <a:bodyPr/>
          <a:lstStyle/>
          <a:p>
            <a:endParaRPr lang="en-US"/>
          </a:p>
        </p:txBody>
      </p:sp>
      <p:sp>
        <p:nvSpPr>
          <p:cNvPr id="120" name="PanelBar20"/>
          <p:cNvSpPr/>
          <p:nvPr/>
        </p:nvSpPr>
        <p:spPr>
          <a:xfrm>
            <a:off x="4686300" y="1090000"/>
            <a:ext cx="4229100" cy="180000"/>
          </a:xfrm>
          <a:prstGeom prst="rect">
            <a:avLst/>
          </a:prstGeom>
          <a:solidFill>
            <a:srgbClr val="F5A623"/>
          </a:solidFill>
          <a:ln/>
        </p:spPr>
        <p:txBody>
          <a:bodyPr/>
          <a:lstStyle/>
          <a:p>
            <a:endParaRPr lang="en-US"/>
          </a:p>
        </p:txBody>
      </p:sp>
      <p:sp>
        <p:nvSpPr>
          <p:cNvPr id="220" name="PanelHeader20"/>
          <p:cNvSpPr/>
          <p:nvPr/>
        </p:nvSpPr>
        <p:spPr>
          <a:xfrm>
            <a:off x="4816300" y="1120000"/>
            <a:ext cx="3969100" cy="150000"/>
          </a:xfrm>
          <a:prstGeom prst="rect">
            <a:avLst/>
          </a:prstGeom>
          <a:noFill/>
          <a:ln/>
        </p:spPr>
        <p:txBody>
          <a:bodyPr wrap="square" rtlCol="0" anchor="ctr"/>
          <a:lstStyle/>
          <a:p>
            <a:pPr marL="0" indent="0">
              <a:buNone/>
            </a:pPr>
            <a:r>
              <a:rPr lang="en-US" sz="1600" b="1" dirty="0">
                <a:solidFill>
                  <a:srgbClr val="0D1B2A"/>
                </a:solidFill>
                <a:latin typeface="Calibri" pitchFamily="34" charset="0"/>
              </a:rPr>
              <a:t>WHAT YOU GAIN</a:t>
            </a:r>
          </a:p>
        </p:txBody>
      </p:sp>
      <p:sp>
        <p:nvSpPr>
          <p:cNvPr id="320" name="Item20_0"/>
          <p:cNvSpPr/>
          <p:nvPr/>
        </p:nvSpPr>
        <p:spPr>
          <a:xfrm>
            <a:off x="4816300" y="1390000"/>
            <a:ext cx="3969100" cy="420000"/>
          </a:xfrm>
          <a:prstGeom prst="rect">
            <a:avLst/>
          </a:prstGeom>
          <a:noFill/>
          <a:ln/>
        </p:spPr>
        <p:txBody>
          <a:bodyPr wrap="square" rtlCol="0" anchor="ctr"/>
          <a:lstStyle/>
          <a:p>
            <a:pPr marL="0" indent="0">
              <a:buNone/>
            </a:pPr>
            <a:r>
              <a:rPr lang="en-US" sz="1300" dirty="0">
                <a:solidFill>
                  <a:srgbClr val="A8C0D6"/>
                </a:solidFill>
                <a:latin typeface="Calibri" pitchFamily="34" charset="0"/>
              </a:rPr>
              <a:t>●  Faster issue resolution — no handoffs</a:t>
            </a:r>
          </a:p>
        </p:txBody>
      </p:sp>
      <p:sp>
        <p:nvSpPr>
          <p:cNvPr id="321" name="Item20_1"/>
          <p:cNvSpPr/>
          <p:nvPr/>
        </p:nvSpPr>
        <p:spPr>
          <a:xfrm>
            <a:off x="4816300" y="1870000"/>
            <a:ext cx="3969100" cy="420000"/>
          </a:xfrm>
          <a:prstGeom prst="rect">
            <a:avLst/>
          </a:prstGeom>
          <a:noFill/>
          <a:ln/>
        </p:spPr>
        <p:txBody>
          <a:bodyPr wrap="square" rtlCol="0" anchor="ctr"/>
          <a:lstStyle/>
          <a:p>
            <a:pPr marL="0" indent="0">
              <a:buNone/>
            </a:pPr>
            <a:r>
              <a:rPr lang="en-US" sz="1300" dirty="0">
                <a:solidFill>
                  <a:srgbClr val="A8C0D6"/>
                </a:solidFill>
                <a:latin typeface="Calibri" pitchFamily="34" charset="0"/>
              </a:rPr>
              <a:t>●  Better communication across the org</a:t>
            </a:r>
          </a:p>
        </p:txBody>
      </p:sp>
      <p:sp>
        <p:nvSpPr>
          <p:cNvPr id="322" name="Item20_2"/>
          <p:cNvSpPr/>
          <p:nvPr/>
        </p:nvSpPr>
        <p:spPr>
          <a:xfrm>
            <a:off x="4816300" y="2350000"/>
            <a:ext cx="3969100" cy="420000"/>
          </a:xfrm>
          <a:prstGeom prst="rect">
            <a:avLst/>
          </a:prstGeom>
          <a:noFill/>
          <a:ln/>
        </p:spPr>
        <p:txBody>
          <a:bodyPr wrap="square" rtlCol="0" anchor="ctr"/>
          <a:lstStyle/>
          <a:p>
            <a:pPr marL="0" indent="0">
              <a:buNone/>
            </a:pPr>
            <a:r>
              <a:rPr lang="en-US" sz="1300" dirty="0">
                <a:solidFill>
                  <a:srgbClr val="A8C0D6"/>
                </a:solidFill>
                <a:latin typeface="Calibri" pitchFamily="34" charset="0"/>
              </a:rPr>
              <a:t>●  No finger-pointing — only teamwork</a:t>
            </a:r>
          </a:p>
        </p:txBody>
      </p:sp>
      <p:sp>
        <p:nvSpPr>
          <p:cNvPr id="323" name="Item20_3"/>
          <p:cNvSpPr/>
          <p:nvPr/>
        </p:nvSpPr>
        <p:spPr>
          <a:xfrm>
            <a:off x="4816300" y="2830000"/>
            <a:ext cx="3969100" cy="420000"/>
          </a:xfrm>
          <a:prstGeom prst="rect">
            <a:avLst/>
          </a:prstGeom>
          <a:noFill/>
          <a:ln/>
        </p:spPr>
        <p:txBody>
          <a:bodyPr wrap="square" rtlCol="0" anchor="ctr"/>
          <a:lstStyle/>
          <a:p>
            <a:pPr marL="0" indent="0">
              <a:buNone/>
            </a:pPr>
            <a:r>
              <a:rPr lang="en-US" sz="1300" dirty="0">
                <a:solidFill>
                  <a:srgbClr val="A8C0D6"/>
                </a:solidFill>
                <a:latin typeface="Calibri" pitchFamily="34" charset="0"/>
              </a:rPr>
              <a:t>●  Happier teams, fewer surprises in prod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E45"/>
          </a:solidFill>
          <a:ln/>
        </p:spPr>
        <p:txBody>
          <a:bodyPr/>
          <a:lstStyle/>
          <a:p>
            <a:endParaRPr lang="en-US"/>
          </a:p>
        </p:txBody>
      </p:sp>
      <p:sp>
        <p:nvSpPr>
          <p:cNvPr id="4" name="Text 2"/>
          <p:cNvSpPr/>
          <p:nvPr/>
        </p:nvSpPr>
        <p:spPr>
          <a:xfrm>
            <a:off x="411480" y="137160"/>
            <a:ext cx="8503920" cy="64008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Real-World Case Study: Netflix &amp; Amazon</a:t>
            </a:r>
            <a:endParaRPr lang="en-US" sz="2600" dirty="0"/>
          </a:p>
        </p:txBody>
      </p:sp>
      <p:sp>
        <p:nvSpPr>
          <p:cNvPr id="12" name="Text 10"/>
          <p:cNvSpPr/>
          <p:nvPr/>
        </p:nvSpPr>
        <p:spPr>
          <a:xfrm>
            <a:off x="457200" y="3776472"/>
            <a:ext cx="3749040" cy="502920"/>
          </a:xfrm>
          <a:prstGeom prst="rect">
            <a:avLst/>
          </a:prstGeom>
          <a:noFill/>
          <a:ln/>
        </p:spPr>
        <p:txBody>
          <a:bodyPr wrap="square" rtlCol="0" anchor="ctr"/>
          <a:lstStyle/>
          <a:p>
            <a:pPr marL="0" indent="0">
              <a:buNone/>
            </a:pPr>
            <a:endParaRPr lang="en-US" sz="1150" dirty="0"/>
          </a:p>
        </p:txBody>
      </p:sp>
      <p:sp>
        <p:nvSpPr>
          <p:cNvPr id="15" name="Text 13"/>
          <p:cNvSpPr/>
          <p:nvPr/>
        </p:nvSpPr>
        <p:spPr>
          <a:xfrm>
            <a:off x="4800600" y="1024128"/>
            <a:ext cx="3749040" cy="347472"/>
          </a:xfrm>
          <a:prstGeom prst="rect">
            <a:avLst/>
          </a:prstGeom>
          <a:noFill/>
          <a:ln/>
        </p:spPr>
        <p:txBody>
          <a:bodyPr wrap="square" rtlCol="0" anchor="ctr"/>
          <a:lstStyle/>
          <a:p>
            <a:pPr marL="0" indent="0">
              <a:buNone/>
            </a:pPr>
            <a:endParaRPr lang="en-US" sz="1600" dirty="0"/>
          </a:p>
        </p:txBody>
      </p:sp>
      <p:sp>
        <p:nvSpPr>
          <p:cNvPr id="18" name="Text 16"/>
          <p:cNvSpPr/>
          <p:nvPr/>
        </p:nvSpPr>
        <p:spPr>
          <a:xfrm>
            <a:off x="4846320" y="2642616"/>
            <a:ext cx="3749040" cy="502920"/>
          </a:xfrm>
          <a:prstGeom prst="rect">
            <a:avLst/>
          </a:prstGeom>
          <a:noFill/>
          <a:ln/>
        </p:spPr>
        <p:txBody>
          <a:bodyPr wrap="square" rtlCol="0" anchor="ctr"/>
          <a:lstStyle/>
          <a:p>
            <a:pPr marL="0" indent="0">
              <a:buNone/>
            </a:pPr>
            <a:endParaRPr lang="en-US" sz="1150" dirty="0"/>
          </a:p>
        </p:txBody>
      </p:sp>
      <p:sp>
        <p:nvSpPr>
          <p:cNvPr id="19" name="Text 17"/>
          <p:cNvSpPr/>
          <p:nvPr/>
        </p:nvSpPr>
        <p:spPr>
          <a:xfrm>
            <a:off x="4846320" y="3209544"/>
            <a:ext cx="3749040" cy="502920"/>
          </a:xfrm>
          <a:prstGeom prst="rect">
            <a:avLst/>
          </a:prstGeom>
          <a:noFill/>
          <a:ln/>
        </p:spPr>
        <p:txBody>
          <a:bodyPr wrap="square" rtlCol="0" anchor="ctr"/>
          <a:lstStyle/>
          <a:p>
            <a:pPr marL="0" indent="0">
              <a:buNone/>
            </a:pPr>
            <a:endParaRPr lang="en-US" sz="1150" dirty="0"/>
          </a:p>
        </p:txBody>
      </p:sp>
      <p:pic>
        <p:nvPicPr>
          <p:cNvPr id="3" name="Picture 2">
            <a:extLst>
              <a:ext uri="{FF2B5EF4-FFF2-40B4-BE49-F238E27FC236}">
                <a16:creationId xmlns:a16="http://schemas.microsoft.com/office/drawing/2014/main" id="{C549AB48-EB0F-E355-2EFC-C191A617CF64}"/>
              </a:ext>
            </a:extLst>
          </p:cNvPr>
          <p:cNvPicPr>
            <a:picLocks noChangeAspect="1"/>
          </p:cNvPicPr>
          <p:nvPr/>
        </p:nvPicPr>
        <p:blipFill>
          <a:blip r:embed="rId3"/>
          <a:srcRect l="2247" t="13476" r="52073" b="3123"/>
          <a:stretch>
            <a:fillRect/>
          </a:stretch>
        </p:blipFill>
        <p:spPr>
          <a:xfrm>
            <a:off x="726621" y="1126671"/>
            <a:ext cx="3616780" cy="3673929"/>
          </a:xfrm>
          <a:prstGeom prst="rect">
            <a:avLst/>
          </a:prstGeom>
        </p:spPr>
      </p:pic>
      <p:pic>
        <p:nvPicPr>
          <p:cNvPr id="5" name="Picture 4">
            <a:extLst>
              <a:ext uri="{FF2B5EF4-FFF2-40B4-BE49-F238E27FC236}">
                <a16:creationId xmlns:a16="http://schemas.microsoft.com/office/drawing/2014/main" id="{E85C5E7A-2415-9965-352D-0435D7FF9781}"/>
              </a:ext>
            </a:extLst>
          </p:cNvPr>
          <p:cNvPicPr>
            <a:picLocks noChangeAspect="1"/>
          </p:cNvPicPr>
          <p:nvPr/>
        </p:nvPicPr>
        <p:blipFill>
          <a:blip r:embed="rId4"/>
          <a:stretch>
            <a:fillRect/>
          </a:stretch>
        </p:blipFill>
        <p:spPr>
          <a:xfrm>
            <a:off x="4663439" y="1126670"/>
            <a:ext cx="3616780" cy="368783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E45"/>
          </a:solidFill>
          <a:ln/>
        </p:spPr>
        <p:txBody>
          <a:bodyPr/>
          <a:lstStyle/>
          <a:p>
            <a:endParaRPr lang="en-US"/>
          </a:p>
        </p:txBody>
      </p:sp>
      <p:sp>
        <p:nvSpPr>
          <p:cNvPr id="4" name="Text 2"/>
          <p:cNvSpPr/>
          <p:nvPr/>
        </p:nvSpPr>
        <p:spPr>
          <a:xfrm>
            <a:off x="411480" y="137160"/>
            <a:ext cx="8503920" cy="64008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CI/CD: The Backbone of DevOps Velocity</a:t>
            </a:r>
            <a:endParaRPr lang="en-US" sz="2600" dirty="0"/>
          </a:p>
        </p:txBody>
      </p:sp>
      <p:pic>
        <p:nvPicPr>
          <p:cNvPr id="49" name="Picture 48">
            <a:extLst>
              <a:ext uri="{FF2B5EF4-FFF2-40B4-BE49-F238E27FC236}">
                <a16:creationId xmlns:a16="http://schemas.microsoft.com/office/drawing/2014/main" id="{09AD62AF-FDCF-D1F7-40A0-AE44F06A1A54}"/>
              </a:ext>
            </a:extLst>
          </p:cNvPr>
          <p:cNvPicPr>
            <a:picLocks noChangeAspect="1"/>
          </p:cNvPicPr>
          <p:nvPr/>
        </p:nvPicPr>
        <p:blipFill>
          <a:blip r:embed="rId3"/>
          <a:stretch>
            <a:fillRect/>
          </a:stretch>
        </p:blipFill>
        <p:spPr>
          <a:xfrm>
            <a:off x="308164" y="914400"/>
            <a:ext cx="8710551" cy="391564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E45"/>
          </a:solidFill>
          <a:ln/>
        </p:spPr>
        <p:txBody>
          <a:bodyPr/>
          <a:lstStyle/>
          <a:p>
            <a:endParaRPr lang="en-US"/>
          </a:p>
        </p:txBody>
      </p:sp>
      <p:sp>
        <p:nvSpPr>
          <p:cNvPr id="4" name="Text 2"/>
          <p:cNvSpPr/>
          <p:nvPr/>
        </p:nvSpPr>
        <p:spPr>
          <a:xfrm>
            <a:off x="411480" y="137160"/>
            <a:ext cx="8503920" cy="64008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Automation &amp; Culture: The Two Pillars</a:t>
            </a:r>
            <a:endParaRPr lang="en-US" sz="2600" dirty="0"/>
          </a:p>
        </p:txBody>
      </p:sp>
      <p:sp>
        <p:nvSpPr>
          <p:cNvPr id="14" name="Text 12"/>
          <p:cNvSpPr/>
          <p:nvPr/>
        </p:nvSpPr>
        <p:spPr>
          <a:xfrm>
            <a:off x="502920" y="4142232"/>
            <a:ext cx="3657600" cy="320040"/>
          </a:xfrm>
          <a:prstGeom prst="rect">
            <a:avLst/>
          </a:prstGeom>
          <a:noFill/>
          <a:ln/>
        </p:spPr>
        <p:txBody>
          <a:bodyPr wrap="square" rtlCol="0" anchor="ctr"/>
          <a:lstStyle/>
          <a:p>
            <a:pPr marL="0" indent="0">
              <a:buNone/>
            </a:pPr>
            <a:endParaRPr lang="en-US" sz="1250" dirty="0"/>
          </a:p>
        </p:txBody>
      </p:sp>
      <p:sp>
        <p:nvSpPr>
          <p:cNvPr id="15" name="Text 13"/>
          <p:cNvSpPr/>
          <p:nvPr/>
        </p:nvSpPr>
        <p:spPr>
          <a:xfrm>
            <a:off x="502920" y="4453128"/>
            <a:ext cx="3657600" cy="457200"/>
          </a:xfrm>
          <a:prstGeom prst="rect">
            <a:avLst/>
          </a:prstGeom>
          <a:noFill/>
          <a:ln/>
        </p:spPr>
        <p:txBody>
          <a:bodyPr wrap="square" rtlCol="0" anchor="ctr"/>
          <a:lstStyle/>
          <a:p>
            <a:pPr marL="0" indent="0">
              <a:buNone/>
            </a:pPr>
            <a:endParaRPr lang="en-US" sz="1100" dirty="0"/>
          </a:p>
        </p:txBody>
      </p:sp>
      <p:sp>
        <p:nvSpPr>
          <p:cNvPr id="18" name="Text 16"/>
          <p:cNvSpPr/>
          <p:nvPr/>
        </p:nvSpPr>
        <p:spPr>
          <a:xfrm>
            <a:off x="4800600" y="1033272"/>
            <a:ext cx="3749040" cy="347472"/>
          </a:xfrm>
          <a:prstGeom prst="rect">
            <a:avLst/>
          </a:prstGeom>
          <a:noFill/>
          <a:ln/>
        </p:spPr>
        <p:txBody>
          <a:bodyPr wrap="square" rtlCol="0" anchor="ctr"/>
          <a:lstStyle/>
          <a:p>
            <a:pPr marL="0" indent="0">
              <a:buNone/>
            </a:pPr>
            <a:endParaRPr lang="en-US" sz="1500" dirty="0"/>
          </a:p>
        </p:txBody>
      </p:sp>
      <p:sp>
        <p:nvSpPr>
          <p:cNvPr id="19" name="Text 17"/>
          <p:cNvSpPr/>
          <p:nvPr/>
        </p:nvSpPr>
        <p:spPr>
          <a:xfrm>
            <a:off x="4846320" y="1536192"/>
            <a:ext cx="3749040" cy="320040"/>
          </a:xfrm>
          <a:prstGeom prst="rect">
            <a:avLst/>
          </a:prstGeom>
          <a:noFill/>
          <a:ln/>
        </p:spPr>
        <p:txBody>
          <a:bodyPr wrap="square" rtlCol="0" anchor="ctr"/>
          <a:lstStyle/>
          <a:p>
            <a:pPr marL="0" indent="0">
              <a:buNone/>
            </a:pPr>
            <a:endParaRPr lang="en-US" sz="1250" dirty="0"/>
          </a:p>
        </p:txBody>
      </p:sp>
      <p:sp>
        <p:nvSpPr>
          <p:cNvPr id="21" name="Text 19"/>
          <p:cNvSpPr/>
          <p:nvPr/>
        </p:nvSpPr>
        <p:spPr>
          <a:xfrm>
            <a:off x="4846320" y="2404872"/>
            <a:ext cx="3749040" cy="320040"/>
          </a:xfrm>
          <a:prstGeom prst="rect">
            <a:avLst/>
          </a:prstGeom>
          <a:noFill/>
          <a:ln/>
        </p:spPr>
        <p:txBody>
          <a:bodyPr wrap="square" rtlCol="0" anchor="ctr"/>
          <a:lstStyle/>
          <a:p>
            <a:pPr marL="0" indent="0">
              <a:buNone/>
            </a:pPr>
            <a:endParaRPr lang="en-US" sz="1250" dirty="0"/>
          </a:p>
        </p:txBody>
      </p:sp>
      <p:sp>
        <p:nvSpPr>
          <p:cNvPr id="22" name="Text 20"/>
          <p:cNvSpPr/>
          <p:nvPr/>
        </p:nvSpPr>
        <p:spPr>
          <a:xfrm>
            <a:off x="4846320" y="2715768"/>
            <a:ext cx="3749040" cy="457200"/>
          </a:xfrm>
          <a:prstGeom prst="rect">
            <a:avLst/>
          </a:prstGeom>
          <a:noFill/>
          <a:ln/>
        </p:spPr>
        <p:txBody>
          <a:bodyPr wrap="square" rtlCol="0" anchor="ctr"/>
          <a:lstStyle/>
          <a:p>
            <a:pPr marL="0" indent="0">
              <a:buNone/>
            </a:pPr>
            <a:endParaRPr lang="en-US" sz="1100" dirty="0"/>
          </a:p>
        </p:txBody>
      </p:sp>
      <p:sp>
        <p:nvSpPr>
          <p:cNvPr id="24" name="Text 22"/>
          <p:cNvSpPr/>
          <p:nvPr/>
        </p:nvSpPr>
        <p:spPr>
          <a:xfrm>
            <a:off x="4846320" y="3584448"/>
            <a:ext cx="3749040" cy="457200"/>
          </a:xfrm>
          <a:prstGeom prst="rect">
            <a:avLst/>
          </a:prstGeom>
          <a:noFill/>
          <a:ln/>
        </p:spPr>
        <p:txBody>
          <a:bodyPr wrap="square" rtlCol="0" anchor="ctr"/>
          <a:lstStyle/>
          <a:p>
            <a:pPr marL="0" indent="0">
              <a:buNone/>
            </a:pPr>
            <a:endParaRPr lang="en-US" sz="1100" dirty="0"/>
          </a:p>
        </p:txBody>
      </p:sp>
      <p:sp>
        <p:nvSpPr>
          <p:cNvPr id="25" name="Text 23"/>
          <p:cNvSpPr/>
          <p:nvPr/>
        </p:nvSpPr>
        <p:spPr>
          <a:xfrm>
            <a:off x="4846320" y="4142232"/>
            <a:ext cx="3749040" cy="320040"/>
          </a:xfrm>
          <a:prstGeom prst="rect">
            <a:avLst/>
          </a:prstGeom>
          <a:noFill/>
          <a:ln/>
        </p:spPr>
        <p:txBody>
          <a:bodyPr wrap="square" rtlCol="0" anchor="ctr"/>
          <a:lstStyle/>
          <a:p>
            <a:pPr marL="0" indent="0">
              <a:buNone/>
            </a:pPr>
            <a:endParaRPr lang="en-US" sz="1250" dirty="0"/>
          </a:p>
        </p:txBody>
      </p:sp>
      <p:sp>
        <p:nvSpPr>
          <p:cNvPr id="26" name="Text 24"/>
          <p:cNvSpPr/>
          <p:nvPr/>
        </p:nvSpPr>
        <p:spPr>
          <a:xfrm>
            <a:off x="4846320" y="4453128"/>
            <a:ext cx="3749040" cy="457200"/>
          </a:xfrm>
          <a:prstGeom prst="rect">
            <a:avLst/>
          </a:prstGeom>
          <a:noFill/>
          <a:ln/>
        </p:spPr>
        <p:txBody>
          <a:bodyPr wrap="square" rtlCol="0" anchor="ctr"/>
          <a:lstStyle/>
          <a:p>
            <a:pPr marL="0" indent="0">
              <a:buNone/>
            </a:pPr>
            <a:endParaRPr lang="en-US" sz="1100" dirty="0"/>
          </a:p>
        </p:txBody>
      </p:sp>
      <p:pic>
        <p:nvPicPr>
          <p:cNvPr id="30" name="Picture 29">
            <a:extLst>
              <a:ext uri="{FF2B5EF4-FFF2-40B4-BE49-F238E27FC236}">
                <a16:creationId xmlns:a16="http://schemas.microsoft.com/office/drawing/2014/main" id="{C70CF171-C38B-4E5D-7BC7-88CF8AFC9C72}"/>
              </a:ext>
            </a:extLst>
          </p:cNvPr>
          <p:cNvPicPr>
            <a:picLocks noChangeAspect="1"/>
          </p:cNvPicPr>
          <p:nvPr/>
        </p:nvPicPr>
        <p:blipFill>
          <a:blip r:embed="rId3"/>
          <a:stretch>
            <a:fillRect/>
          </a:stretch>
        </p:blipFill>
        <p:spPr>
          <a:xfrm>
            <a:off x="305789" y="1033272"/>
            <a:ext cx="8609611" cy="404985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E45"/>
          </a:solidFill>
          <a:ln/>
        </p:spPr>
        <p:txBody>
          <a:bodyPr/>
          <a:lstStyle/>
          <a:p>
            <a:endParaRPr lang="en-US"/>
          </a:p>
        </p:txBody>
      </p:sp>
      <p:sp>
        <p:nvSpPr>
          <p:cNvPr id="4" name="Text 2"/>
          <p:cNvSpPr/>
          <p:nvPr/>
        </p:nvSpPr>
        <p:spPr>
          <a:xfrm>
            <a:off x="411480" y="137160"/>
            <a:ext cx="8503920" cy="64008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Monitoring, Observability &amp; Feedback Loops</a:t>
            </a:r>
            <a:endParaRPr lang="en-US" sz="2400" dirty="0"/>
          </a:p>
        </p:txBody>
      </p:sp>
      <p:sp>
        <p:nvSpPr>
          <p:cNvPr id="5" name="Text 3"/>
          <p:cNvSpPr/>
          <p:nvPr/>
        </p:nvSpPr>
        <p:spPr>
          <a:xfrm>
            <a:off x="411480" y="960120"/>
            <a:ext cx="8321040" cy="594360"/>
          </a:xfrm>
          <a:prstGeom prst="rect">
            <a:avLst/>
          </a:prstGeom>
          <a:noFill/>
          <a:ln/>
        </p:spPr>
        <p:txBody>
          <a:bodyPr wrap="square" rtlCol="0" anchor="ctr"/>
          <a:lstStyle/>
          <a:p>
            <a:pPr marL="0" indent="0">
              <a:buNone/>
            </a:pPr>
            <a:endParaRPr lang="en-US" sz="1300" dirty="0"/>
          </a:p>
        </p:txBody>
      </p:sp>
      <p:sp>
        <p:nvSpPr>
          <p:cNvPr id="18" name="Text 16"/>
          <p:cNvSpPr/>
          <p:nvPr/>
        </p:nvSpPr>
        <p:spPr>
          <a:xfrm>
            <a:off x="6355080" y="1783080"/>
            <a:ext cx="2468880" cy="274320"/>
          </a:xfrm>
          <a:prstGeom prst="rect">
            <a:avLst/>
          </a:prstGeom>
          <a:noFill/>
          <a:ln/>
        </p:spPr>
        <p:txBody>
          <a:bodyPr wrap="square" rtlCol="0" anchor="ctr"/>
          <a:lstStyle/>
          <a:p>
            <a:pPr marL="0" indent="0">
              <a:buNone/>
            </a:pPr>
            <a:endParaRPr lang="en-US" sz="1000" dirty="0"/>
          </a:p>
        </p:txBody>
      </p:sp>
      <p:sp>
        <p:nvSpPr>
          <p:cNvPr id="19" name="Text 17"/>
          <p:cNvSpPr/>
          <p:nvPr/>
        </p:nvSpPr>
        <p:spPr>
          <a:xfrm>
            <a:off x="6355080" y="2057400"/>
            <a:ext cx="2468880" cy="365760"/>
          </a:xfrm>
          <a:prstGeom prst="rect">
            <a:avLst/>
          </a:prstGeom>
          <a:noFill/>
          <a:ln/>
        </p:spPr>
        <p:txBody>
          <a:bodyPr wrap="square" rtlCol="0" anchor="ctr"/>
          <a:lstStyle/>
          <a:p>
            <a:pPr marL="0" indent="0">
              <a:buNone/>
            </a:pPr>
            <a:endParaRPr lang="en-US" sz="1400" dirty="0"/>
          </a:p>
        </p:txBody>
      </p:sp>
      <p:sp>
        <p:nvSpPr>
          <p:cNvPr id="20" name="Text 18"/>
          <p:cNvSpPr/>
          <p:nvPr/>
        </p:nvSpPr>
        <p:spPr>
          <a:xfrm>
            <a:off x="6355080" y="2441448"/>
            <a:ext cx="2468880" cy="502920"/>
          </a:xfrm>
          <a:prstGeom prst="rect">
            <a:avLst/>
          </a:prstGeom>
          <a:noFill/>
          <a:ln/>
        </p:spPr>
        <p:txBody>
          <a:bodyPr wrap="square" rtlCol="0" anchor="ctr"/>
          <a:lstStyle/>
          <a:p>
            <a:pPr marL="0" indent="0">
              <a:buNone/>
            </a:pPr>
            <a:endParaRPr lang="en-US" sz="1050" dirty="0"/>
          </a:p>
        </p:txBody>
      </p:sp>
      <p:sp>
        <p:nvSpPr>
          <p:cNvPr id="33" name="Text 31"/>
          <p:cNvSpPr/>
          <p:nvPr/>
        </p:nvSpPr>
        <p:spPr>
          <a:xfrm>
            <a:off x="6355080" y="3383280"/>
            <a:ext cx="2468880" cy="274320"/>
          </a:xfrm>
          <a:prstGeom prst="rect">
            <a:avLst/>
          </a:prstGeom>
          <a:noFill/>
          <a:ln/>
        </p:spPr>
        <p:txBody>
          <a:bodyPr wrap="square" rtlCol="0" anchor="ctr"/>
          <a:lstStyle/>
          <a:p>
            <a:pPr marL="0" indent="0">
              <a:buNone/>
            </a:pPr>
            <a:endParaRPr lang="en-US" sz="1000" dirty="0"/>
          </a:p>
        </p:txBody>
      </p:sp>
      <p:sp>
        <p:nvSpPr>
          <p:cNvPr id="34" name="Text 32"/>
          <p:cNvSpPr/>
          <p:nvPr/>
        </p:nvSpPr>
        <p:spPr>
          <a:xfrm>
            <a:off x="6355080" y="3657600"/>
            <a:ext cx="2468880" cy="365760"/>
          </a:xfrm>
          <a:prstGeom prst="rect">
            <a:avLst/>
          </a:prstGeom>
          <a:noFill/>
          <a:ln/>
        </p:spPr>
        <p:txBody>
          <a:bodyPr wrap="square" rtlCol="0" anchor="ctr"/>
          <a:lstStyle/>
          <a:p>
            <a:pPr marL="0" indent="0">
              <a:buNone/>
            </a:pPr>
            <a:endParaRPr lang="en-US" sz="1400" dirty="0"/>
          </a:p>
        </p:txBody>
      </p:sp>
      <p:sp>
        <p:nvSpPr>
          <p:cNvPr id="35" name="Text 33"/>
          <p:cNvSpPr/>
          <p:nvPr/>
        </p:nvSpPr>
        <p:spPr>
          <a:xfrm>
            <a:off x="6355080" y="4041648"/>
            <a:ext cx="2468880" cy="502920"/>
          </a:xfrm>
          <a:prstGeom prst="rect">
            <a:avLst/>
          </a:prstGeom>
          <a:noFill/>
          <a:ln/>
        </p:spPr>
        <p:txBody>
          <a:bodyPr wrap="square" rtlCol="0" anchor="ctr"/>
          <a:lstStyle/>
          <a:p>
            <a:pPr marL="0" indent="0">
              <a:buNone/>
            </a:pPr>
            <a:endParaRPr lang="en-US" sz="1050" dirty="0"/>
          </a:p>
        </p:txBody>
      </p:sp>
      <p:pic>
        <p:nvPicPr>
          <p:cNvPr id="44" name="Picture 43">
            <a:extLst>
              <a:ext uri="{FF2B5EF4-FFF2-40B4-BE49-F238E27FC236}">
                <a16:creationId xmlns:a16="http://schemas.microsoft.com/office/drawing/2014/main" id="{3EF02C07-F258-C845-43DD-C70F30C89098}"/>
              </a:ext>
            </a:extLst>
          </p:cNvPr>
          <p:cNvPicPr>
            <a:picLocks noChangeAspect="1"/>
          </p:cNvPicPr>
          <p:nvPr/>
        </p:nvPicPr>
        <p:blipFill>
          <a:blip r:embed="rId3"/>
          <a:stretch>
            <a:fillRect/>
          </a:stretch>
        </p:blipFill>
        <p:spPr>
          <a:xfrm>
            <a:off x="158460" y="1051560"/>
            <a:ext cx="8864652" cy="376982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Cost Efficiency">
    <p:bg>
      <p:bgPr>
        <a:solidFill>
          <a:srgbClr val="0D1B2A"/>
        </a:solidFill>
        <a:effectLst/>
      </p:bgPr>
    </p:bg>
    <p:spTree>
      <p:nvGrpSpPr>
        <p:cNvPr id="1" name=""/>
        <p:cNvGrpSpPr/>
        <p:nvPr/>
      </p:nvGrpSpPr>
      <p:grpSpPr>
        <a:xfrm>
          <a:off x="0" y="0"/>
          <a:ext cx="0" cy="0"/>
          <a:chOff x="0" y="0"/>
          <a:chExt cx="0" cy="0"/>
        </a:xfrm>
      </p:grpSpPr>
      <p:sp>
        <p:nvSpPr>
          <p:cNvPr id="2" name="HeaderBar"/>
          <p:cNvSpPr/>
          <p:nvPr/>
        </p:nvSpPr>
        <p:spPr>
          <a:xfrm>
            <a:off x="0" y="0"/>
            <a:ext cx="9144000" cy="1005840"/>
          </a:xfrm>
          <a:prstGeom prst="rect">
            <a:avLst/>
          </a:prstGeom>
          <a:solidFill>
            <a:srgbClr val="1A2E45"/>
          </a:solidFill>
          <a:ln/>
        </p:spPr>
        <p:txBody>
          <a:bodyPr/>
          <a:lstStyle/>
          <a:p>
            <a:endParaRPr lang="en-US"/>
          </a:p>
        </p:txBody>
      </p:sp>
      <p:sp>
        <p:nvSpPr>
          <p:cNvPr id="4" name="Title"/>
          <p:cNvSpPr/>
          <p:nvPr/>
        </p:nvSpPr>
        <p:spPr>
          <a:xfrm>
            <a:off x="411480" y="182880"/>
            <a:ext cx="8503920" cy="640080"/>
          </a:xfrm>
          <a:prstGeom prst="rect">
            <a:avLst/>
          </a:prstGeom>
          <a:noFill/>
          <a:ln/>
        </p:spPr>
        <p:txBody>
          <a:bodyPr wrap="square" rtlCol="0" anchor="ctr"/>
          <a:lstStyle/>
          <a:p>
            <a:pPr marL="0" indent="0">
              <a:buNone/>
            </a:pPr>
            <a:r>
              <a:rPr lang="en-US" sz="2600" b="1" dirty="0">
                <a:solidFill>
                  <a:srgbClr val="FFFFFF"/>
                </a:solidFill>
                <a:latin typeface="Calibri" pitchFamily="34" charset="0"/>
              </a:rPr>
              <a:t>Cost Efficiency</a:t>
            </a:r>
          </a:p>
        </p:txBody>
      </p:sp>
      <p:sp>
        <p:nvSpPr>
          <p:cNvPr id="10" name="Card10"/>
          <p:cNvSpPr/>
          <p:nvPr/>
        </p:nvSpPr>
        <p:spPr>
          <a:xfrm>
            <a:off x="228600" y="1100000"/>
            <a:ext cx="4229100" cy="1870000"/>
          </a:xfrm>
          <a:prstGeom prst="rect">
            <a:avLst/>
          </a:prstGeom>
          <a:solidFill>
            <a:srgbClr val="162234"/>
          </a:solidFill>
          <a:ln w="25400">
            <a:solidFill>
              <a:srgbClr val="00C9B1"/>
            </a:solidFill>
          </a:ln>
        </p:spPr>
        <p:txBody>
          <a:bodyPr/>
          <a:lstStyle/>
          <a:p>
            <a:endParaRPr lang="en-US"/>
          </a:p>
        </p:txBody>
      </p:sp>
      <p:sp>
        <p:nvSpPr>
          <p:cNvPr id="110" name="AccentBar10"/>
          <p:cNvSpPr/>
          <p:nvPr/>
        </p:nvSpPr>
        <p:spPr>
          <a:xfrm>
            <a:off x="228600" y="1100000"/>
            <a:ext cx="4229100" cy="160000"/>
          </a:xfrm>
          <a:prstGeom prst="rect">
            <a:avLst/>
          </a:prstGeom>
          <a:solidFill>
            <a:srgbClr val="00C9B1"/>
          </a:solidFill>
          <a:ln/>
        </p:spPr>
        <p:txBody>
          <a:bodyPr/>
          <a:lstStyle/>
          <a:p>
            <a:endParaRPr lang="en-US"/>
          </a:p>
        </p:txBody>
      </p:sp>
      <p:sp>
        <p:nvSpPr>
          <p:cNvPr id="210" name="CardTitle10"/>
          <p:cNvSpPr/>
          <p:nvPr/>
        </p:nvSpPr>
        <p:spPr>
          <a:xfrm>
            <a:off x="338600" y="1360000"/>
            <a:ext cx="4009100" cy="300000"/>
          </a:xfrm>
          <a:prstGeom prst="rect">
            <a:avLst/>
          </a:prstGeom>
          <a:noFill/>
          <a:ln/>
        </p:spPr>
        <p:txBody>
          <a:bodyPr wrap="square" rtlCol="0" anchor="ctr"/>
          <a:lstStyle/>
          <a:p>
            <a:pPr marL="0" indent="0">
              <a:buNone/>
            </a:pPr>
            <a:r>
              <a:rPr lang="en-US" sz="1600" b="1" dirty="0">
                <a:solidFill>
                  <a:srgbClr val="FFFFFF"/>
                </a:solidFill>
                <a:latin typeface="Calibri" pitchFamily="34" charset="0"/>
              </a:rPr>
              <a:t>Automate the Grind</a:t>
            </a:r>
          </a:p>
        </p:txBody>
      </p:sp>
      <p:sp>
        <p:nvSpPr>
          <p:cNvPr id="310" name="CardBody10"/>
          <p:cNvSpPr/>
          <p:nvPr/>
        </p:nvSpPr>
        <p:spPr>
          <a:xfrm>
            <a:off x="338600" y="1680000"/>
            <a:ext cx="4009100" cy="1210000"/>
          </a:xfrm>
          <a:prstGeom prst="rect">
            <a:avLst/>
          </a:prstGeom>
          <a:noFill/>
          <a:ln/>
        </p:spPr>
        <p:txBody>
          <a:bodyPr wrap="square" rtlCol="0" anchor="t"/>
          <a:lstStyle/>
          <a:p>
            <a:pPr marL="0" indent="0">
              <a:buNone/>
            </a:pPr>
            <a:r>
              <a:rPr lang="en-US" sz="1200" dirty="0">
                <a:solidFill>
                  <a:srgbClr val="A8C0D6"/>
                </a:solidFill>
                <a:latin typeface="Calibri" pitchFamily="34" charset="0"/>
              </a:rPr>
              <a:t>Repetitive manual tasks are handled by pipelines. Teams focus their energy on real work.</a:t>
            </a:r>
          </a:p>
        </p:txBody>
      </p:sp>
      <p:sp>
        <p:nvSpPr>
          <p:cNvPr id="20" name="Card20"/>
          <p:cNvSpPr/>
          <p:nvPr/>
        </p:nvSpPr>
        <p:spPr>
          <a:xfrm>
            <a:off x="4686300" y="1100000"/>
            <a:ext cx="4229100" cy="1870000"/>
          </a:xfrm>
          <a:prstGeom prst="rect">
            <a:avLst/>
          </a:prstGeom>
          <a:solidFill>
            <a:srgbClr val="162234"/>
          </a:solidFill>
          <a:ln w="25400">
            <a:solidFill>
              <a:srgbClr val="F5A623"/>
            </a:solidFill>
          </a:ln>
        </p:spPr>
        <p:txBody>
          <a:bodyPr/>
          <a:lstStyle/>
          <a:p>
            <a:endParaRPr lang="en-US"/>
          </a:p>
        </p:txBody>
      </p:sp>
      <p:sp>
        <p:nvSpPr>
          <p:cNvPr id="120" name="AccentBar20"/>
          <p:cNvSpPr/>
          <p:nvPr/>
        </p:nvSpPr>
        <p:spPr>
          <a:xfrm>
            <a:off x="4686300" y="1100000"/>
            <a:ext cx="4229100" cy="160000"/>
          </a:xfrm>
          <a:prstGeom prst="rect">
            <a:avLst/>
          </a:prstGeom>
          <a:solidFill>
            <a:srgbClr val="F5A623"/>
          </a:solidFill>
          <a:ln/>
        </p:spPr>
        <p:txBody>
          <a:bodyPr/>
          <a:lstStyle/>
          <a:p>
            <a:endParaRPr lang="en-US"/>
          </a:p>
        </p:txBody>
      </p:sp>
      <p:sp>
        <p:nvSpPr>
          <p:cNvPr id="220" name="CardTitle20"/>
          <p:cNvSpPr/>
          <p:nvPr/>
        </p:nvSpPr>
        <p:spPr>
          <a:xfrm>
            <a:off x="4796300" y="1360000"/>
            <a:ext cx="4009100" cy="300000"/>
          </a:xfrm>
          <a:prstGeom prst="rect">
            <a:avLst/>
          </a:prstGeom>
          <a:noFill/>
          <a:ln/>
        </p:spPr>
        <p:txBody>
          <a:bodyPr wrap="square" rtlCol="0" anchor="ctr"/>
          <a:lstStyle/>
          <a:p>
            <a:pPr marL="0" indent="0">
              <a:buNone/>
            </a:pPr>
            <a:r>
              <a:rPr lang="en-US" sz="1600" b="1" dirty="0">
                <a:solidFill>
                  <a:srgbClr val="FFFFFF"/>
                </a:solidFill>
                <a:latin typeface="Calibri" pitchFamily="34" charset="0"/>
              </a:rPr>
              <a:t>Catch Bugs Early</a:t>
            </a:r>
          </a:p>
        </p:txBody>
      </p:sp>
      <p:sp>
        <p:nvSpPr>
          <p:cNvPr id="320" name="CardBody20"/>
          <p:cNvSpPr/>
          <p:nvPr/>
        </p:nvSpPr>
        <p:spPr>
          <a:xfrm>
            <a:off x="4796300" y="1680000"/>
            <a:ext cx="4009100" cy="1210000"/>
          </a:xfrm>
          <a:prstGeom prst="rect">
            <a:avLst/>
          </a:prstGeom>
          <a:noFill/>
          <a:ln/>
        </p:spPr>
        <p:txBody>
          <a:bodyPr wrap="square" rtlCol="0" anchor="t"/>
          <a:lstStyle/>
          <a:p>
            <a:pPr marL="0" indent="0">
              <a:buNone/>
            </a:pPr>
            <a:r>
              <a:rPr lang="en-US" sz="1200" dirty="0">
                <a:solidFill>
                  <a:srgbClr val="A8C0D6"/>
                </a:solidFill>
                <a:latin typeface="Calibri" pitchFamily="34" charset="0"/>
              </a:rPr>
              <a:t>Automated tests find errors before they reach production. Less rework means lower cost.</a:t>
            </a:r>
          </a:p>
        </p:txBody>
      </p:sp>
      <p:sp>
        <p:nvSpPr>
          <p:cNvPr id="30" name="Card30"/>
          <p:cNvSpPr/>
          <p:nvPr/>
        </p:nvSpPr>
        <p:spPr>
          <a:xfrm>
            <a:off x="228600" y="3050000"/>
            <a:ext cx="4229100" cy="1870000"/>
          </a:xfrm>
          <a:prstGeom prst="rect">
            <a:avLst/>
          </a:prstGeom>
          <a:solidFill>
            <a:srgbClr val="162234"/>
          </a:solidFill>
          <a:ln w="25400">
            <a:solidFill>
              <a:srgbClr val="E74C3C"/>
            </a:solidFill>
          </a:ln>
        </p:spPr>
        <p:txBody>
          <a:bodyPr/>
          <a:lstStyle/>
          <a:p>
            <a:endParaRPr lang="en-US"/>
          </a:p>
        </p:txBody>
      </p:sp>
      <p:sp>
        <p:nvSpPr>
          <p:cNvPr id="130" name="AccentBar30"/>
          <p:cNvSpPr/>
          <p:nvPr/>
        </p:nvSpPr>
        <p:spPr>
          <a:xfrm>
            <a:off x="228600" y="3050000"/>
            <a:ext cx="4229100" cy="160000"/>
          </a:xfrm>
          <a:prstGeom prst="rect">
            <a:avLst/>
          </a:prstGeom>
          <a:solidFill>
            <a:srgbClr val="E74C3C"/>
          </a:solidFill>
          <a:ln/>
        </p:spPr>
        <p:txBody>
          <a:bodyPr/>
          <a:lstStyle/>
          <a:p>
            <a:endParaRPr lang="en-US"/>
          </a:p>
        </p:txBody>
      </p:sp>
      <p:sp>
        <p:nvSpPr>
          <p:cNvPr id="230" name="CardTitle30"/>
          <p:cNvSpPr/>
          <p:nvPr/>
        </p:nvSpPr>
        <p:spPr>
          <a:xfrm>
            <a:off x="338600" y="3310000"/>
            <a:ext cx="4009100" cy="300000"/>
          </a:xfrm>
          <a:prstGeom prst="rect">
            <a:avLst/>
          </a:prstGeom>
          <a:noFill/>
          <a:ln/>
        </p:spPr>
        <p:txBody>
          <a:bodyPr wrap="square" rtlCol="0" anchor="ctr"/>
          <a:lstStyle/>
          <a:p>
            <a:pPr marL="0" indent="0">
              <a:buNone/>
            </a:pPr>
            <a:r>
              <a:rPr lang="en-US" sz="1600" b="1" dirty="0">
                <a:solidFill>
                  <a:srgbClr val="FFFFFF"/>
                </a:solidFill>
                <a:latin typeface="Calibri" pitchFamily="34" charset="0"/>
              </a:rPr>
              <a:t>Use Resources Wisely</a:t>
            </a:r>
          </a:p>
        </p:txBody>
      </p:sp>
      <p:sp>
        <p:nvSpPr>
          <p:cNvPr id="330" name="CardBody30"/>
          <p:cNvSpPr/>
          <p:nvPr/>
        </p:nvSpPr>
        <p:spPr>
          <a:xfrm>
            <a:off x="338600" y="3630000"/>
            <a:ext cx="4009100" cy="1210000"/>
          </a:xfrm>
          <a:prstGeom prst="rect">
            <a:avLst/>
          </a:prstGeom>
          <a:noFill/>
          <a:ln/>
        </p:spPr>
        <p:txBody>
          <a:bodyPr wrap="square" rtlCol="0" anchor="t"/>
          <a:lstStyle/>
          <a:p>
            <a:pPr marL="0" indent="0">
              <a:buNone/>
            </a:pPr>
            <a:r>
              <a:rPr lang="en-US" sz="1200" dirty="0">
                <a:solidFill>
                  <a:srgbClr val="A8C0D6"/>
                </a:solidFill>
                <a:latin typeface="Calibri" pitchFamily="34" charset="0"/>
              </a:rPr>
              <a:t>Infrastructure scales on demand. No idle servers, no over-provisioning, no wasted spend.</a:t>
            </a:r>
          </a:p>
        </p:txBody>
      </p:sp>
      <p:sp>
        <p:nvSpPr>
          <p:cNvPr id="40" name="Card40"/>
          <p:cNvSpPr/>
          <p:nvPr/>
        </p:nvSpPr>
        <p:spPr>
          <a:xfrm>
            <a:off x="4686300" y="3050000"/>
            <a:ext cx="4229100" cy="1870000"/>
          </a:xfrm>
          <a:prstGeom prst="rect">
            <a:avLst/>
          </a:prstGeom>
          <a:solidFill>
            <a:srgbClr val="162234"/>
          </a:solidFill>
          <a:ln w="25400">
            <a:solidFill>
              <a:srgbClr val="9B59B6"/>
            </a:solidFill>
          </a:ln>
        </p:spPr>
        <p:txBody>
          <a:bodyPr/>
          <a:lstStyle/>
          <a:p>
            <a:endParaRPr lang="en-US"/>
          </a:p>
        </p:txBody>
      </p:sp>
      <p:sp>
        <p:nvSpPr>
          <p:cNvPr id="140" name="AccentBar40"/>
          <p:cNvSpPr/>
          <p:nvPr/>
        </p:nvSpPr>
        <p:spPr>
          <a:xfrm>
            <a:off x="4686300" y="3050000"/>
            <a:ext cx="4229100" cy="160000"/>
          </a:xfrm>
          <a:prstGeom prst="rect">
            <a:avLst/>
          </a:prstGeom>
          <a:solidFill>
            <a:srgbClr val="9B59B6"/>
          </a:solidFill>
          <a:ln/>
        </p:spPr>
        <p:txBody>
          <a:bodyPr/>
          <a:lstStyle/>
          <a:p>
            <a:endParaRPr lang="en-US"/>
          </a:p>
        </p:txBody>
      </p:sp>
      <p:sp>
        <p:nvSpPr>
          <p:cNvPr id="240" name="CardTitle40"/>
          <p:cNvSpPr/>
          <p:nvPr/>
        </p:nvSpPr>
        <p:spPr>
          <a:xfrm>
            <a:off x="4796300" y="3310000"/>
            <a:ext cx="4009100" cy="300000"/>
          </a:xfrm>
          <a:prstGeom prst="rect">
            <a:avLst/>
          </a:prstGeom>
          <a:noFill/>
          <a:ln/>
        </p:spPr>
        <p:txBody>
          <a:bodyPr wrap="square" rtlCol="0" anchor="ctr"/>
          <a:lstStyle/>
          <a:p>
            <a:pPr marL="0" indent="0">
              <a:buNone/>
            </a:pPr>
            <a:r>
              <a:rPr lang="en-US" sz="1600" b="1" dirty="0">
                <a:solidFill>
                  <a:srgbClr val="FFFFFF"/>
                </a:solidFill>
                <a:latin typeface="Calibri" pitchFamily="34" charset="0"/>
              </a:rPr>
              <a:t>Avoid Costly Downtime</a:t>
            </a:r>
          </a:p>
        </p:txBody>
      </p:sp>
      <p:sp>
        <p:nvSpPr>
          <p:cNvPr id="340" name="CardBody40"/>
          <p:cNvSpPr/>
          <p:nvPr/>
        </p:nvSpPr>
        <p:spPr>
          <a:xfrm>
            <a:off x="4796300" y="3630000"/>
            <a:ext cx="4009100" cy="1210000"/>
          </a:xfrm>
          <a:prstGeom prst="rect">
            <a:avLst/>
          </a:prstGeom>
          <a:noFill/>
          <a:ln/>
        </p:spPr>
        <p:txBody>
          <a:bodyPr wrap="square" rtlCol="0" anchor="t"/>
          <a:lstStyle/>
          <a:p>
            <a:pPr marL="0" indent="0">
              <a:buNone/>
            </a:pPr>
            <a:r>
              <a:rPr lang="en-US" sz="1200" dirty="0">
                <a:solidFill>
                  <a:srgbClr val="A8C0D6"/>
                </a:solidFill>
                <a:latin typeface="Calibri" pitchFamily="34" charset="0"/>
              </a:rPr>
              <a:t>Real-time monitoring catches issues before users are affected. Fewer incidents, less damage.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E45"/>
          </a:solidFill>
          <a:ln/>
        </p:spPr>
        <p:txBody>
          <a:bodyPr/>
          <a:lstStyle/>
          <a:p>
            <a:endParaRPr lang="en-US"/>
          </a:p>
        </p:txBody>
      </p:sp>
      <p:sp>
        <p:nvSpPr>
          <p:cNvPr id="4" name="Text 2"/>
          <p:cNvSpPr/>
          <p:nvPr/>
        </p:nvSpPr>
        <p:spPr>
          <a:xfrm>
            <a:off x="411480" y="137160"/>
            <a:ext cx="8503920" cy="64008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Measurable Business Impact</a:t>
            </a:r>
            <a:endParaRPr lang="en-US" sz="2600" dirty="0"/>
          </a:p>
        </p:txBody>
      </p:sp>
      <p:sp>
        <p:nvSpPr>
          <p:cNvPr id="6" name="Text 4"/>
          <p:cNvSpPr/>
          <p:nvPr/>
        </p:nvSpPr>
        <p:spPr>
          <a:xfrm>
            <a:off x="320040" y="1143000"/>
            <a:ext cx="4069080" cy="868680"/>
          </a:xfrm>
          <a:prstGeom prst="rect">
            <a:avLst/>
          </a:prstGeom>
          <a:noFill/>
          <a:ln/>
        </p:spPr>
        <p:txBody>
          <a:bodyPr wrap="square" rtlCol="0" anchor="ctr"/>
          <a:lstStyle/>
          <a:p>
            <a:pPr marL="0" indent="0" algn="ctr">
              <a:buNone/>
            </a:pPr>
            <a:endParaRPr lang="en-US" sz="5200" dirty="0"/>
          </a:p>
        </p:txBody>
      </p:sp>
      <p:sp>
        <p:nvSpPr>
          <p:cNvPr id="9" name="Text 7"/>
          <p:cNvSpPr/>
          <p:nvPr/>
        </p:nvSpPr>
        <p:spPr>
          <a:xfrm>
            <a:off x="4617720" y="1143000"/>
            <a:ext cx="4069080" cy="868680"/>
          </a:xfrm>
          <a:prstGeom prst="rect">
            <a:avLst/>
          </a:prstGeom>
          <a:noFill/>
          <a:ln/>
        </p:spPr>
        <p:txBody>
          <a:bodyPr wrap="square" rtlCol="0" anchor="ctr"/>
          <a:lstStyle/>
          <a:p>
            <a:pPr marL="0" indent="0" algn="ctr">
              <a:buNone/>
            </a:pPr>
            <a:endParaRPr lang="en-US" sz="5200" dirty="0"/>
          </a:p>
        </p:txBody>
      </p:sp>
      <p:sp>
        <p:nvSpPr>
          <p:cNvPr id="10" name="Text 8"/>
          <p:cNvSpPr/>
          <p:nvPr/>
        </p:nvSpPr>
        <p:spPr>
          <a:xfrm>
            <a:off x="4754880" y="1984248"/>
            <a:ext cx="3794760" cy="594360"/>
          </a:xfrm>
          <a:prstGeom prst="rect">
            <a:avLst/>
          </a:prstGeom>
          <a:noFill/>
          <a:ln/>
        </p:spPr>
        <p:txBody>
          <a:bodyPr wrap="square" rtlCol="0" anchor="ctr"/>
          <a:lstStyle/>
          <a:p>
            <a:pPr marL="0" indent="0" algn="ctr">
              <a:buNone/>
            </a:pPr>
            <a:endParaRPr lang="en-US" sz="1150" dirty="0"/>
          </a:p>
        </p:txBody>
      </p:sp>
      <p:sp>
        <p:nvSpPr>
          <p:cNvPr id="13" name="Text 11"/>
          <p:cNvSpPr/>
          <p:nvPr/>
        </p:nvSpPr>
        <p:spPr>
          <a:xfrm>
            <a:off x="457200" y="3858768"/>
            <a:ext cx="3794760" cy="594360"/>
          </a:xfrm>
          <a:prstGeom prst="rect">
            <a:avLst/>
          </a:prstGeom>
          <a:noFill/>
          <a:ln/>
        </p:spPr>
        <p:txBody>
          <a:bodyPr wrap="square" rtlCol="0" anchor="ctr"/>
          <a:lstStyle/>
          <a:p>
            <a:pPr marL="0" indent="0" algn="ctr">
              <a:buNone/>
            </a:pPr>
            <a:endParaRPr lang="en-US" sz="1150" dirty="0"/>
          </a:p>
        </p:txBody>
      </p:sp>
      <p:sp>
        <p:nvSpPr>
          <p:cNvPr id="15" name="Text 13"/>
          <p:cNvSpPr/>
          <p:nvPr/>
        </p:nvSpPr>
        <p:spPr>
          <a:xfrm>
            <a:off x="4617720" y="3017520"/>
            <a:ext cx="4069080" cy="868680"/>
          </a:xfrm>
          <a:prstGeom prst="rect">
            <a:avLst/>
          </a:prstGeom>
          <a:noFill/>
          <a:ln/>
        </p:spPr>
        <p:txBody>
          <a:bodyPr wrap="square" rtlCol="0" anchor="ctr"/>
          <a:lstStyle/>
          <a:p>
            <a:pPr marL="0" indent="0" algn="ctr">
              <a:buNone/>
            </a:pPr>
            <a:endParaRPr lang="en-US" sz="5200" dirty="0"/>
          </a:p>
        </p:txBody>
      </p:sp>
      <p:sp>
        <p:nvSpPr>
          <p:cNvPr id="16" name="Text 14"/>
          <p:cNvSpPr/>
          <p:nvPr/>
        </p:nvSpPr>
        <p:spPr>
          <a:xfrm>
            <a:off x="4754880" y="3858768"/>
            <a:ext cx="3794760" cy="594360"/>
          </a:xfrm>
          <a:prstGeom prst="rect">
            <a:avLst/>
          </a:prstGeom>
          <a:noFill/>
          <a:ln/>
        </p:spPr>
        <p:txBody>
          <a:bodyPr wrap="square" rtlCol="0" anchor="ctr"/>
          <a:lstStyle/>
          <a:p>
            <a:pPr marL="0" indent="0" algn="ctr">
              <a:buNone/>
            </a:pPr>
            <a:endParaRPr lang="en-US" sz="1150" dirty="0"/>
          </a:p>
        </p:txBody>
      </p:sp>
      <p:sp>
        <p:nvSpPr>
          <p:cNvPr id="17" name="Text 15"/>
          <p:cNvSpPr/>
          <p:nvPr/>
        </p:nvSpPr>
        <p:spPr>
          <a:xfrm>
            <a:off x="411480" y="4754880"/>
            <a:ext cx="8229600" cy="274320"/>
          </a:xfrm>
          <a:prstGeom prst="rect">
            <a:avLst/>
          </a:prstGeom>
          <a:noFill/>
          <a:ln/>
        </p:spPr>
        <p:txBody>
          <a:bodyPr wrap="square" rtlCol="0" anchor="ctr"/>
          <a:lstStyle/>
          <a:p>
            <a:pPr marL="0" indent="0">
              <a:buNone/>
            </a:pPr>
            <a:endParaRPr lang="en-US" sz="1000" dirty="0"/>
          </a:p>
        </p:txBody>
      </p:sp>
      <p:pic>
        <p:nvPicPr>
          <p:cNvPr id="19" name="Picture 18">
            <a:extLst>
              <a:ext uri="{FF2B5EF4-FFF2-40B4-BE49-F238E27FC236}">
                <a16:creationId xmlns:a16="http://schemas.microsoft.com/office/drawing/2014/main" id="{C2D4CCE7-2392-11D4-B672-10B8B3D133DB}"/>
              </a:ext>
            </a:extLst>
          </p:cNvPr>
          <p:cNvPicPr>
            <a:picLocks noChangeAspect="1"/>
          </p:cNvPicPr>
          <p:nvPr/>
        </p:nvPicPr>
        <p:blipFill>
          <a:blip r:embed="rId3"/>
          <a:stretch>
            <a:fillRect/>
          </a:stretch>
        </p:blipFill>
        <p:spPr>
          <a:xfrm>
            <a:off x="320040" y="1078992"/>
            <a:ext cx="8394636" cy="392734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Competitive Advantage">
    <p:bg>
      <p:bgPr>
        <a:solidFill>
          <a:srgbClr val="0D1B2A"/>
        </a:solidFill>
        <a:effectLst/>
      </p:bgPr>
    </p:bg>
    <p:spTree>
      <p:nvGrpSpPr>
        <p:cNvPr id="1" name=""/>
        <p:cNvGrpSpPr/>
        <p:nvPr/>
      </p:nvGrpSpPr>
      <p:grpSpPr>
        <a:xfrm>
          <a:off x="0" y="0"/>
          <a:ext cx="0" cy="0"/>
          <a:chOff x="0" y="0"/>
          <a:chExt cx="0" cy="0"/>
        </a:xfrm>
      </p:grpSpPr>
      <p:sp>
        <p:nvSpPr>
          <p:cNvPr id="2" name="HeaderBar"/>
          <p:cNvSpPr/>
          <p:nvPr/>
        </p:nvSpPr>
        <p:spPr>
          <a:xfrm>
            <a:off x="0" y="0"/>
            <a:ext cx="9144000" cy="1005840"/>
          </a:xfrm>
          <a:prstGeom prst="rect">
            <a:avLst/>
          </a:prstGeom>
          <a:solidFill>
            <a:srgbClr val="1A2E45"/>
          </a:solidFill>
          <a:ln/>
        </p:spPr>
        <p:txBody>
          <a:bodyPr/>
          <a:lstStyle/>
          <a:p>
            <a:endParaRPr lang="en-US"/>
          </a:p>
        </p:txBody>
      </p:sp>
      <p:sp>
        <p:nvSpPr>
          <p:cNvPr id="4" name="Title"/>
          <p:cNvSpPr/>
          <p:nvPr/>
        </p:nvSpPr>
        <p:spPr>
          <a:xfrm>
            <a:off x="411480" y="182880"/>
            <a:ext cx="8503920" cy="640080"/>
          </a:xfrm>
          <a:prstGeom prst="rect">
            <a:avLst/>
          </a:prstGeom>
          <a:noFill/>
          <a:ln/>
        </p:spPr>
        <p:txBody>
          <a:bodyPr wrap="square" rtlCol="0" anchor="ctr"/>
          <a:lstStyle/>
          <a:p>
            <a:pPr marL="0" indent="0">
              <a:buNone/>
            </a:pPr>
            <a:r>
              <a:rPr lang="en-US" sz="2600" b="1" dirty="0">
                <a:solidFill>
                  <a:srgbClr val="FFFFFF"/>
                </a:solidFill>
                <a:latin typeface="Calibri" pitchFamily="34" charset="0"/>
              </a:rPr>
              <a:t>Competitive Advantage</a:t>
            </a:r>
          </a:p>
        </p:txBody>
      </p:sp>
      <p:sp>
        <p:nvSpPr>
          <p:cNvPr id="10" name="Card10"/>
          <p:cNvSpPr/>
          <p:nvPr/>
        </p:nvSpPr>
        <p:spPr>
          <a:xfrm>
            <a:off x="228600" y="1100000"/>
            <a:ext cx="4229100" cy="1870000"/>
          </a:xfrm>
          <a:prstGeom prst="rect">
            <a:avLst/>
          </a:prstGeom>
          <a:solidFill>
            <a:srgbClr val="162234"/>
          </a:solidFill>
          <a:ln w="25400">
            <a:solidFill>
              <a:srgbClr val="00C9B1"/>
            </a:solidFill>
          </a:ln>
        </p:spPr>
        <p:txBody>
          <a:bodyPr/>
          <a:lstStyle/>
          <a:p>
            <a:endParaRPr lang="en-US"/>
          </a:p>
        </p:txBody>
      </p:sp>
      <p:sp>
        <p:nvSpPr>
          <p:cNvPr id="110" name="AccentBar10"/>
          <p:cNvSpPr/>
          <p:nvPr/>
        </p:nvSpPr>
        <p:spPr>
          <a:xfrm>
            <a:off x="228600" y="1100000"/>
            <a:ext cx="4229100" cy="160000"/>
          </a:xfrm>
          <a:prstGeom prst="rect">
            <a:avLst/>
          </a:prstGeom>
          <a:solidFill>
            <a:srgbClr val="00C9B1"/>
          </a:solidFill>
          <a:ln/>
        </p:spPr>
        <p:txBody>
          <a:bodyPr/>
          <a:lstStyle/>
          <a:p>
            <a:endParaRPr lang="en-US"/>
          </a:p>
        </p:txBody>
      </p:sp>
      <p:sp>
        <p:nvSpPr>
          <p:cNvPr id="210" name="CardTitle10"/>
          <p:cNvSpPr/>
          <p:nvPr/>
        </p:nvSpPr>
        <p:spPr>
          <a:xfrm>
            <a:off x="338600" y="1360000"/>
            <a:ext cx="4009100" cy="300000"/>
          </a:xfrm>
          <a:prstGeom prst="rect">
            <a:avLst/>
          </a:prstGeom>
          <a:noFill/>
          <a:ln/>
        </p:spPr>
        <p:txBody>
          <a:bodyPr wrap="square" rtlCol="0" anchor="ctr"/>
          <a:lstStyle/>
          <a:p>
            <a:pPr marL="0" indent="0">
              <a:buNone/>
            </a:pPr>
            <a:r>
              <a:rPr lang="en-US" sz="1600" b="1" dirty="0">
                <a:solidFill>
                  <a:srgbClr val="FFFFFF"/>
                </a:solidFill>
                <a:latin typeface="Calibri" pitchFamily="34" charset="0"/>
              </a:rPr>
              <a:t>Ship Faster</a:t>
            </a:r>
          </a:p>
        </p:txBody>
      </p:sp>
      <p:sp>
        <p:nvSpPr>
          <p:cNvPr id="310" name="CardBody10"/>
          <p:cNvSpPr/>
          <p:nvPr/>
        </p:nvSpPr>
        <p:spPr>
          <a:xfrm>
            <a:off x="338600" y="1680000"/>
            <a:ext cx="4009100" cy="1210000"/>
          </a:xfrm>
          <a:prstGeom prst="rect">
            <a:avLst/>
          </a:prstGeom>
          <a:noFill/>
          <a:ln/>
        </p:spPr>
        <p:txBody>
          <a:bodyPr wrap="square" rtlCol="0" anchor="t"/>
          <a:lstStyle/>
          <a:p>
            <a:pPr marL="0" indent="0">
              <a:buNone/>
            </a:pPr>
            <a:r>
              <a:rPr lang="en-US" sz="1200" dirty="0">
                <a:solidFill>
                  <a:srgbClr val="A8C0D6"/>
                </a:solidFill>
                <a:latin typeface="Calibri" pitchFamily="34" charset="0"/>
              </a:rPr>
              <a:t>Release features in days, not months. Faster delivery means happier customers and more revenue.</a:t>
            </a:r>
          </a:p>
        </p:txBody>
      </p:sp>
      <p:sp>
        <p:nvSpPr>
          <p:cNvPr id="20" name="Card20"/>
          <p:cNvSpPr/>
          <p:nvPr/>
        </p:nvSpPr>
        <p:spPr>
          <a:xfrm>
            <a:off x="4686300" y="1100000"/>
            <a:ext cx="4229100" cy="1870000"/>
          </a:xfrm>
          <a:prstGeom prst="rect">
            <a:avLst/>
          </a:prstGeom>
          <a:solidFill>
            <a:srgbClr val="162234"/>
          </a:solidFill>
          <a:ln w="25400">
            <a:solidFill>
              <a:srgbClr val="F5A623"/>
            </a:solidFill>
          </a:ln>
        </p:spPr>
        <p:txBody>
          <a:bodyPr/>
          <a:lstStyle/>
          <a:p>
            <a:endParaRPr lang="en-US"/>
          </a:p>
        </p:txBody>
      </p:sp>
      <p:sp>
        <p:nvSpPr>
          <p:cNvPr id="120" name="AccentBar20"/>
          <p:cNvSpPr/>
          <p:nvPr/>
        </p:nvSpPr>
        <p:spPr>
          <a:xfrm>
            <a:off x="4686300" y="1100000"/>
            <a:ext cx="4229100" cy="160000"/>
          </a:xfrm>
          <a:prstGeom prst="rect">
            <a:avLst/>
          </a:prstGeom>
          <a:solidFill>
            <a:srgbClr val="F5A623"/>
          </a:solidFill>
          <a:ln/>
        </p:spPr>
        <p:txBody>
          <a:bodyPr/>
          <a:lstStyle/>
          <a:p>
            <a:endParaRPr lang="en-US"/>
          </a:p>
        </p:txBody>
      </p:sp>
      <p:sp>
        <p:nvSpPr>
          <p:cNvPr id="220" name="CardTitle20"/>
          <p:cNvSpPr/>
          <p:nvPr/>
        </p:nvSpPr>
        <p:spPr>
          <a:xfrm>
            <a:off x="4796300" y="1360000"/>
            <a:ext cx="4009100" cy="300000"/>
          </a:xfrm>
          <a:prstGeom prst="rect">
            <a:avLst/>
          </a:prstGeom>
          <a:noFill/>
          <a:ln/>
        </p:spPr>
        <p:txBody>
          <a:bodyPr wrap="square" rtlCol="0" anchor="ctr"/>
          <a:lstStyle/>
          <a:p>
            <a:pPr marL="0" indent="0">
              <a:buNone/>
            </a:pPr>
            <a:r>
              <a:rPr lang="en-US" sz="1600" b="1" dirty="0">
                <a:solidFill>
                  <a:srgbClr val="FFFFFF"/>
                </a:solidFill>
                <a:latin typeface="Calibri" pitchFamily="34" charset="0"/>
              </a:rPr>
              <a:t>Better Quality Products</a:t>
            </a:r>
          </a:p>
        </p:txBody>
      </p:sp>
      <p:sp>
        <p:nvSpPr>
          <p:cNvPr id="320" name="CardBody20"/>
          <p:cNvSpPr/>
          <p:nvPr/>
        </p:nvSpPr>
        <p:spPr>
          <a:xfrm>
            <a:off x="4796300" y="1680000"/>
            <a:ext cx="4009100" cy="1210000"/>
          </a:xfrm>
          <a:prstGeom prst="rect">
            <a:avLst/>
          </a:prstGeom>
          <a:noFill/>
          <a:ln/>
        </p:spPr>
        <p:txBody>
          <a:bodyPr wrap="square" rtlCol="0" anchor="t"/>
          <a:lstStyle/>
          <a:p>
            <a:pPr marL="0" indent="0">
              <a:buNone/>
            </a:pPr>
            <a:r>
              <a:rPr lang="en-US" sz="1200" dirty="0">
                <a:solidFill>
                  <a:srgbClr val="A8C0D6"/>
                </a:solidFill>
                <a:latin typeface="Calibri" pitchFamily="34" charset="0"/>
              </a:rPr>
              <a:t>Every commit is tested automatically. Fewer bugs reach production, fewer customers are affected.</a:t>
            </a:r>
          </a:p>
        </p:txBody>
      </p:sp>
      <p:sp>
        <p:nvSpPr>
          <p:cNvPr id="30" name="Card30"/>
          <p:cNvSpPr/>
          <p:nvPr/>
        </p:nvSpPr>
        <p:spPr>
          <a:xfrm>
            <a:off x="228600" y="3050000"/>
            <a:ext cx="4229100" cy="1870000"/>
          </a:xfrm>
          <a:prstGeom prst="rect">
            <a:avLst/>
          </a:prstGeom>
          <a:solidFill>
            <a:srgbClr val="162234"/>
          </a:solidFill>
          <a:ln w="25400">
            <a:solidFill>
              <a:srgbClr val="E74C3C"/>
            </a:solidFill>
          </a:ln>
        </p:spPr>
        <p:txBody>
          <a:bodyPr/>
          <a:lstStyle/>
          <a:p>
            <a:endParaRPr lang="en-US"/>
          </a:p>
        </p:txBody>
      </p:sp>
      <p:sp>
        <p:nvSpPr>
          <p:cNvPr id="130" name="AccentBar30"/>
          <p:cNvSpPr/>
          <p:nvPr/>
        </p:nvSpPr>
        <p:spPr>
          <a:xfrm>
            <a:off x="228600" y="3050000"/>
            <a:ext cx="4229100" cy="160000"/>
          </a:xfrm>
          <a:prstGeom prst="rect">
            <a:avLst/>
          </a:prstGeom>
          <a:solidFill>
            <a:srgbClr val="E74C3C"/>
          </a:solidFill>
          <a:ln/>
        </p:spPr>
        <p:txBody>
          <a:bodyPr/>
          <a:lstStyle/>
          <a:p>
            <a:endParaRPr lang="en-US"/>
          </a:p>
        </p:txBody>
      </p:sp>
      <p:sp>
        <p:nvSpPr>
          <p:cNvPr id="230" name="CardTitle30"/>
          <p:cNvSpPr/>
          <p:nvPr/>
        </p:nvSpPr>
        <p:spPr>
          <a:xfrm>
            <a:off x="338600" y="3310000"/>
            <a:ext cx="4009100" cy="300000"/>
          </a:xfrm>
          <a:prstGeom prst="rect">
            <a:avLst/>
          </a:prstGeom>
          <a:noFill/>
          <a:ln/>
        </p:spPr>
        <p:txBody>
          <a:bodyPr wrap="square" rtlCol="0" anchor="ctr"/>
          <a:lstStyle/>
          <a:p>
            <a:pPr marL="0" indent="0">
              <a:buNone/>
            </a:pPr>
            <a:r>
              <a:rPr lang="en-US" sz="1600" b="1" dirty="0">
                <a:solidFill>
                  <a:srgbClr val="FFFFFF"/>
                </a:solidFill>
                <a:latin typeface="Calibri" pitchFamily="34" charset="0"/>
              </a:rPr>
              <a:t>Respond to Change Quickly</a:t>
            </a:r>
          </a:p>
        </p:txBody>
      </p:sp>
      <p:sp>
        <p:nvSpPr>
          <p:cNvPr id="330" name="CardBody30"/>
          <p:cNvSpPr/>
          <p:nvPr/>
        </p:nvSpPr>
        <p:spPr>
          <a:xfrm>
            <a:off x="338600" y="3630000"/>
            <a:ext cx="4009100" cy="1210000"/>
          </a:xfrm>
          <a:prstGeom prst="rect">
            <a:avLst/>
          </a:prstGeom>
          <a:noFill/>
          <a:ln/>
        </p:spPr>
        <p:txBody>
          <a:bodyPr wrap="square" rtlCol="0" anchor="t"/>
          <a:lstStyle/>
          <a:p>
            <a:pPr marL="0" indent="0">
              <a:buNone/>
            </a:pPr>
            <a:r>
              <a:rPr lang="en-US" sz="1200" dirty="0">
                <a:solidFill>
                  <a:srgbClr val="A8C0D6"/>
                </a:solidFill>
                <a:latin typeface="Calibri" pitchFamily="34" charset="0"/>
              </a:rPr>
              <a:t>When market conditions shift, DevOps teams can adapt in days. Others take months to catch up.</a:t>
            </a:r>
          </a:p>
        </p:txBody>
      </p:sp>
      <p:sp>
        <p:nvSpPr>
          <p:cNvPr id="40" name="Card40"/>
          <p:cNvSpPr/>
          <p:nvPr/>
        </p:nvSpPr>
        <p:spPr>
          <a:xfrm>
            <a:off x="4686300" y="3050000"/>
            <a:ext cx="4229100" cy="1870000"/>
          </a:xfrm>
          <a:prstGeom prst="rect">
            <a:avLst/>
          </a:prstGeom>
          <a:solidFill>
            <a:srgbClr val="162234"/>
          </a:solidFill>
          <a:ln w="25400">
            <a:solidFill>
              <a:srgbClr val="9B59B6"/>
            </a:solidFill>
          </a:ln>
        </p:spPr>
        <p:txBody>
          <a:bodyPr/>
          <a:lstStyle/>
          <a:p>
            <a:endParaRPr lang="en-US"/>
          </a:p>
        </p:txBody>
      </p:sp>
      <p:sp>
        <p:nvSpPr>
          <p:cNvPr id="140" name="AccentBar40"/>
          <p:cNvSpPr/>
          <p:nvPr/>
        </p:nvSpPr>
        <p:spPr>
          <a:xfrm>
            <a:off x="4686300" y="3050000"/>
            <a:ext cx="4229100" cy="160000"/>
          </a:xfrm>
          <a:prstGeom prst="rect">
            <a:avLst/>
          </a:prstGeom>
          <a:solidFill>
            <a:srgbClr val="9B59B6"/>
          </a:solidFill>
          <a:ln/>
        </p:spPr>
        <p:txBody>
          <a:bodyPr/>
          <a:lstStyle/>
          <a:p>
            <a:endParaRPr lang="en-US"/>
          </a:p>
        </p:txBody>
      </p:sp>
      <p:sp>
        <p:nvSpPr>
          <p:cNvPr id="240" name="CardTitle40"/>
          <p:cNvSpPr/>
          <p:nvPr/>
        </p:nvSpPr>
        <p:spPr>
          <a:xfrm>
            <a:off x="4796300" y="3310000"/>
            <a:ext cx="4009100" cy="300000"/>
          </a:xfrm>
          <a:prstGeom prst="rect">
            <a:avLst/>
          </a:prstGeom>
          <a:noFill/>
          <a:ln/>
        </p:spPr>
        <p:txBody>
          <a:bodyPr wrap="square" rtlCol="0" anchor="ctr"/>
          <a:lstStyle/>
          <a:p>
            <a:pPr marL="0" indent="0">
              <a:buNone/>
            </a:pPr>
            <a:r>
              <a:rPr lang="en-US" sz="1600" b="1" dirty="0">
                <a:solidFill>
                  <a:srgbClr val="FFFFFF"/>
                </a:solidFill>
                <a:latin typeface="Calibri" pitchFamily="34" charset="0"/>
              </a:rPr>
              <a:t>Stay Ahead of Competitors</a:t>
            </a:r>
          </a:p>
        </p:txBody>
      </p:sp>
      <p:sp>
        <p:nvSpPr>
          <p:cNvPr id="340" name="CardBody40"/>
          <p:cNvSpPr/>
          <p:nvPr/>
        </p:nvSpPr>
        <p:spPr>
          <a:xfrm>
            <a:off x="4796300" y="3630000"/>
            <a:ext cx="4009100" cy="1210000"/>
          </a:xfrm>
          <a:prstGeom prst="rect">
            <a:avLst/>
          </a:prstGeom>
          <a:noFill/>
          <a:ln/>
        </p:spPr>
        <p:txBody>
          <a:bodyPr wrap="square" rtlCol="0" anchor="t"/>
          <a:lstStyle/>
          <a:p>
            <a:pPr marL="0" indent="0">
              <a:buNone/>
            </a:pPr>
            <a:r>
              <a:rPr lang="en-US" sz="1200" dirty="0">
                <a:solidFill>
                  <a:srgbClr val="A8C0D6"/>
                </a:solidFill>
                <a:latin typeface="Calibri" pitchFamily="34" charset="0"/>
              </a:rPr>
              <a:t>Companies using DevOps outpace rivals. Innovation is faster when deployments are fearless.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E45"/>
          </a:solidFill>
          <a:ln/>
        </p:spPr>
        <p:txBody>
          <a:bodyPr/>
          <a:lstStyle/>
          <a:p>
            <a:endParaRPr lang="en-US"/>
          </a:p>
        </p:txBody>
      </p:sp>
      <p:sp>
        <p:nvSpPr>
          <p:cNvPr id="4" name="Text 2"/>
          <p:cNvSpPr/>
          <p:nvPr/>
        </p:nvSpPr>
        <p:spPr>
          <a:xfrm>
            <a:off x="411480" y="137160"/>
            <a:ext cx="8503920" cy="64008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Before vs. After DevOps</a:t>
            </a:r>
            <a:endParaRPr lang="en-US" sz="2600" dirty="0"/>
          </a:p>
        </p:txBody>
      </p:sp>
      <p:sp>
        <p:nvSpPr>
          <p:cNvPr id="5" name="Shape 3"/>
          <p:cNvSpPr/>
          <p:nvPr/>
        </p:nvSpPr>
        <p:spPr>
          <a:xfrm>
            <a:off x="320040" y="960120"/>
            <a:ext cx="4023360" cy="457200"/>
          </a:xfrm>
          <a:prstGeom prst="rect">
            <a:avLst/>
          </a:prstGeom>
          <a:solidFill>
            <a:srgbClr val="E05A5A"/>
          </a:solidFill>
          <a:ln/>
        </p:spPr>
        <p:txBody>
          <a:bodyPr/>
          <a:lstStyle/>
          <a:p>
            <a:endParaRPr lang="en-US"/>
          </a:p>
        </p:txBody>
      </p:sp>
      <p:sp>
        <p:nvSpPr>
          <p:cNvPr id="6" name="Text 4"/>
          <p:cNvSpPr/>
          <p:nvPr/>
        </p:nvSpPr>
        <p:spPr>
          <a:xfrm>
            <a:off x="411480" y="978408"/>
            <a:ext cx="3749040" cy="41148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BEFORE DevOps</a:t>
            </a:r>
            <a:endParaRPr lang="en-US" sz="1400" dirty="0"/>
          </a:p>
        </p:txBody>
      </p:sp>
      <p:sp>
        <p:nvSpPr>
          <p:cNvPr id="7" name="Shape 5"/>
          <p:cNvSpPr/>
          <p:nvPr/>
        </p:nvSpPr>
        <p:spPr>
          <a:xfrm>
            <a:off x="4800600" y="960120"/>
            <a:ext cx="4023360" cy="457200"/>
          </a:xfrm>
          <a:prstGeom prst="rect">
            <a:avLst/>
          </a:prstGeom>
          <a:solidFill>
            <a:srgbClr val="3DD68C"/>
          </a:solidFill>
          <a:ln/>
        </p:spPr>
        <p:txBody>
          <a:bodyPr/>
          <a:lstStyle/>
          <a:p>
            <a:endParaRPr lang="en-US"/>
          </a:p>
        </p:txBody>
      </p:sp>
      <p:sp>
        <p:nvSpPr>
          <p:cNvPr id="8" name="Text 6"/>
          <p:cNvSpPr/>
          <p:nvPr/>
        </p:nvSpPr>
        <p:spPr>
          <a:xfrm>
            <a:off x="4892040" y="978408"/>
            <a:ext cx="3749040" cy="41148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AFTER DevOps</a:t>
            </a:r>
            <a:endParaRPr lang="en-US" sz="1400" dirty="0"/>
          </a:p>
        </p:txBody>
      </p:sp>
      <p:sp>
        <p:nvSpPr>
          <p:cNvPr id="9" name="Shape 7"/>
          <p:cNvSpPr/>
          <p:nvPr/>
        </p:nvSpPr>
        <p:spPr>
          <a:xfrm>
            <a:off x="320040" y="1554480"/>
            <a:ext cx="4023360" cy="530352"/>
          </a:xfrm>
          <a:prstGeom prst="rect">
            <a:avLst/>
          </a:prstGeom>
          <a:solidFill>
            <a:srgbClr val="1A2E45"/>
          </a:solidFill>
          <a:ln/>
        </p:spPr>
        <p:txBody>
          <a:bodyPr/>
          <a:lstStyle/>
          <a:p>
            <a:endParaRPr lang="en-US"/>
          </a:p>
        </p:txBody>
      </p:sp>
      <p:sp>
        <p:nvSpPr>
          <p:cNvPr id="10" name="Shape 8"/>
          <p:cNvSpPr/>
          <p:nvPr/>
        </p:nvSpPr>
        <p:spPr>
          <a:xfrm>
            <a:off x="4800600" y="1554480"/>
            <a:ext cx="4023360" cy="530352"/>
          </a:xfrm>
          <a:prstGeom prst="rect">
            <a:avLst/>
          </a:prstGeom>
          <a:solidFill>
            <a:srgbClr val="1A2E45"/>
          </a:solidFill>
          <a:ln/>
        </p:spPr>
        <p:txBody>
          <a:bodyPr/>
          <a:lstStyle/>
          <a:p>
            <a:endParaRPr lang="en-US"/>
          </a:p>
        </p:txBody>
      </p:sp>
      <p:sp>
        <p:nvSpPr>
          <p:cNvPr id="11" name="Text 9"/>
          <p:cNvSpPr/>
          <p:nvPr/>
        </p:nvSpPr>
        <p:spPr>
          <a:xfrm>
            <a:off x="457200" y="1645920"/>
            <a:ext cx="3749040" cy="365760"/>
          </a:xfrm>
          <a:prstGeom prst="rect">
            <a:avLst/>
          </a:prstGeom>
          <a:noFill/>
          <a:ln/>
        </p:spPr>
        <p:txBody>
          <a:bodyPr wrap="square" rtlCol="0" anchor="ctr"/>
          <a:lstStyle/>
          <a:p>
            <a:pPr marL="0" indent="0">
              <a:buNone/>
            </a:pPr>
            <a:r>
              <a:rPr lang="en-US" sz="1200" dirty="0">
                <a:solidFill>
                  <a:srgbClr val="FF9999"/>
                </a:solidFill>
                <a:latin typeface="Calibri" pitchFamily="34" charset="0"/>
                <a:ea typeface="Calibri" pitchFamily="34" charset="-122"/>
                <a:cs typeface="Calibri" pitchFamily="34" charset="-120"/>
              </a:rPr>
              <a:t>Releases every 3–6 months</a:t>
            </a:r>
            <a:endParaRPr lang="en-US" sz="1200" dirty="0"/>
          </a:p>
        </p:txBody>
      </p:sp>
      <p:sp>
        <p:nvSpPr>
          <p:cNvPr id="12" name="Text 10"/>
          <p:cNvSpPr/>
          <p:nvPr/>
        </p:nvSpPr>
        <p:spPr>
          <a:xfrm>
            <a:off x="4937760" y="1645920"/>
            <a:ext cx="3749040" cy="365760"/>
          </a:xfrm>
          <a:prstGeom prst="rect">
            <a:avLst/>
          </a:prstGeom>
          <a:noFill/>
          <a:ln/>
        </p:spPr>
        <p:txBody>
          <a:bodyPr wrap="square" rtlCol="0" anchor="ctr"/>
          <a:lstStyle/>
          <a:p>
            <a:pPr marL="0" indent="0">
              <a:buNone/>
            </a:pPr>
            <a:r>
              <a:rPr lang="en-US" sz="1200" dirty="0">
                <a:solidFill>
                  <a:srgbClr val="3DD68C"/>
                </a:solidFill>
                <a:latin typeface="Calibri" pitchFamily="34" charset="0"/>
                <a:ea typeface="Calibri" pitchFamily="34" charset="-122"/>
                <a:cs typeface="Calibri" pitchFamily="34" charset="-120"/>
              </a:rPr>
              <a:t>Deploy multiple times per day</a:t>
            </a:r>
            <a:endParaRPr lang="en-US" sz="1200" dirty="0"/>
          </a:p>
        </p:txBody>
      </p:sp>
      <p:sp>
        <p:nvSpPr>
          <p:cNvPr id="13" name="Shape 11"/>
          <p:cNvSpPr/>
          <p:nvPr/>
        </p:nvSpPr>
        <p:spPr>
          <a:xfrm>
            <a:off x="320040" y="2153412"/>
            <a:ext cx="4023360" cy="530352"/>
          </a:xfrm>
          <a:prstGeom prst="rect">
            <a:avLst/>
          </a:prstGeom>
          <a:solidFill>
            <a:srgbClr val="162234"/>
          </a:solidFill>
          <a:ln/>
        </p:spPr>
        <p:txBody>
          <a:bodyPr/>
          <a:lstStyle/>
          <a:p>
            <a:endParaRPr lang="en-US"/>
          </a:p>
        </p:txBody>
      </p:sp>
      <p:sp>
        <p:nvSpPr>
          <p:cNvPr id="14" name="Shape 12"/>
          <p:cNvSpPr/>
          <p:nvPr/>
        </p:nvSpPr>
        <p:spPr>
          <a:xfrm>
            <a:off x="4800600" y="2139696"/>
            <a:ext cx="4023360" cy="530352"/>
          </a:xfrm>
          <a:prstGeom prst="rect">
            <a:avLst/>
          </a:prstGeom>
          <a:solidFill>
            <a:srgbClr val="162234"/>
          </a:solidFill>
          <a:ln/>
        </p:spPr>
        <p:txBody>
          <a:bodyPr/>
          <a:lstStyle/>
          <a:p>
            <a:endParaRPr lang="en-US"/>
          </a:p>
        </p:txBody>
      </p:sp>
      <p:sp>
        <p:nvSpPr>
          <p:cNvPr id="15" name="Text 13"/>
          <p:cNvSpPr/>
          <p:nvPr/>
        </p:nvSpPr>
        <p:spPr>
          <a:xfrm>
            <a:off x="457200" y="2231136"/>
            <a:ext cx="3749040" cy="365760"/>
          </a:xfrm>
          <a:prstGeom prst="rect">
            <a:avLst/>
          </a:prstGeom>
          <a:noFill/>
          <a:ln/>
        </p:spPr>
        <p:txBody>
          <a:bodyPr wrap="square" rtlCol="0" anchor="ctr"/>
          <a:lstStyle/>
          <a:p>
            <a:pPr marL="0" indent="0">
              <a:buNone/>
            </a:pPr>
            <a:r>
              <a:rPr lang="en-US" sz="1200" dirty="0">
                <a:solidFill>
                  <a:srgbClr val="FF9999"/>
                </a:solidFill>
                <a:latin typeface="Calibri" pitchFamily="34" charset="0"/>
                <a:ea typeface="Calibri" pitchFamily="34" charset="-122"/>
                <a:cs typeface="Calibri" pitchFamily="34" charset="-120"/>
              </a:rPr>
              <a:t>Dev blames Ops for outages</a:t>
            </a:r>
            <a:endParaRPr lang="en-US" sz="1200" dirty="0"/>
          </a:p>
        </p:txBody>
      </p:sp>
      <p:sp>
        <p:nvSpPr>
          <p:cNvPr id="16" name="Text 14"/>
          <p:cNvSpPr/>
          <p:nvPr/>
        </p:nvSpPr>
        <p:spPr>
          <a:xfrm>
            <a:off x="4937760" y="2231136"/>
            <a:ext cx="3749040" cy="365760"/>
          </a:xfrm>
          <a:prstGeom prst="rect">
            <a:avLst/>
          </a:prstGeom>
          <a:noFill/>
          <a:ln/>
        </p:spPr>
        <p:txBody>
          <a:bodyPr wrap="square" rtlCol="0" anchor="ctr"/>
          <a:lstStyle/>
          <a:p>
            <a:pPr marL="0" indent="0">
              <a:buNone/>
            </a:pPr>
            <a:r>
              <a:rPr lang="en-US" sz="1200" dirty="0">
                <a:solidFill>
                  <a:srgbClr val="3DD68C"/>
                </a:solidFill>
                <a:latin typeface="Calibri" pitchFamily="34" charset="0"/>
                <a:ea typeface="Calibri" pitchFamily="34" charset="-122"/>
                <a:cs typeface="Calibri" pitchFamily="34" charset="-120"/>
              </a:rPr>
              <a:t>Shared ownership — no blame game</a:t>
            </a:r>
            <a:endParaRPr lang="en-US" sz="1200" dirty="0"/>
          </a:p>
        </p:txBody>
      </p:sp>
      <p:sp>
        <p:nvSpPr>
          <p:cNvPr id="17" name="Shape 15"/>
          <p:cNvSpPr/>
          <p:nvPr/>
        </p:nvSpPr>
        <p:spPr>
          <a:xfrm>
            <a:off x="320040" y="2724912"/>
            <a:ext cx="4023360" cy="530352"/>
          </a:xfrm>
          <a:prstGeom prst="rect">
            <a:avLst/>
          </a:prstGeom>
          <a:solidFill>
            <a:srgbClr val="1A2E45"/>
          </a:solidFill>
          <a:ln/>
        </p:spPr>
        <p:txBody>
          <a:bodyPr/>
          <a:lstStyle/>
          <a:p>
            <a:endParaRPr lang="en-US"/>
          </a:p>
        </p:txBody>
      </p:sp>
      <p:sp>
        <p:nvSpPr>
          <p:cNvPr id="18" name="Shape 16"/>
          <p:cNvSpPr/>
          <p:nvPr/>
        </p:nvSpPr>
        <p:spPr>
          <a:xfrm>
            <a:off x="4800600" y="2724912"/>
            <a:ext cx="4023360" cy="530352"/>
          </a:xfrm>
          <a:prstGeom prst="rect">
            <a:avLst/>
          </a:prstGeom>
          <a:solidFill>
            <a:srgbClr val="1A2E45"/>
          </a:solidFill>
          <a:ln/>
        </p:spPr>
        <p:txBody>
          <a:bodyPr/>
          <a:lstStyle/>
          <a:p>
            <a:endParaRPr lang="en-US"/>
          </a:p>
        </p:txBody>
      </p:sp>
      <p:sp>
        <p:nvSpPr>
          <p:cNvPr id="19" name="Text 17"/>
          <p:cNvSpPr/>
          <p:nvPr/>
        </p:nvSpPr>
        <p:spPr>
          <a:xfrm>
            <a:off x="457200" y="2816352"/>
            <a:ext cx="3749040" cy="365760"/>
          </a:xfrm>
          <a:prstGeom prst="rect">
            <a:avLst/>
          </a:prstGeom>
          <a:noFill/>
          <a:ln/>
        </p:spPr>
        <p:txBody>
          <a:bodyPr wrap="square" rtlCol="0" anchor="ctr"/>
          <a:lstStyle/>
          <a:p>
            <a:pPr marL="0" indent="0">
              <a:buNone/>
            </a:pPr>
            <a:r>
              <a:rPr lang="en-US" sz="1200" dirty="0">
                <a:solidFill>
                  <a:srgbClr val="FF9999"/>
                </a:solidFill>
                <a:latin typeface="Calibri" pitchFamily="34" charset="0"/>
                <a:ea typeface="Calibri" pitchFamily="34" charset="-122"/>
                <a:cs typeface="Calibri" pitchFamily="34" charset="-120"/>
              </a:rPr>
              <a:t>Testing at end of cycle</a:t>
            </a:r>
            <a:endParaRPr lang="en-US" sz="1200" dirty="0"/>
          </a:p>
        </p:txBody>
      </p:sp>
      <p:sp>
        <p:nvSpPr>
          <p:cNvPr id="20" name="Text 18"/>
          <p:cNvSpPr/>
          <p:nvPr/>
        </p:nvSpPr>
        <p:spPr>
          <a:xfrm>
            <a:off x="4937760" y="2816352"/>
            <a:ext cx="3749040" cy="365760"/>
          </a:xfrm>
          <a:prstGeom prst="rect">
            <a:avLst/>
          </a:prstGeom>
          <a:noFill/>
          <a:ln/>
        </p:spPr>
        <p:txBody>
          <a:bodyPr wrap="square" rtlCol="0" anchor="ctr"/>
          <a:lstStyle/>
          <a:p>
            <a:pPr marL="0" indent="0">
              <a:buNone/>
            </a:pPr>
            <a:r>
              <a:rPr lang="en-US" sz="1200" dirty="0">
                <a:solidFill>
                  <a:srgbClr val="3DD68C"/>
                </a:solidFill>
                <a:latin typeface="Calibri" pitchFamily="34" charset="0"/>
                <a:ea typeface="Calibri" pitchFamily="34" charset="-122"/>
                <a:cs typeface="Calibri" pitchFamily="34" charset="-120"/>
              </a:rPr>
              <a:t>Automated tests on every commit</a:t>
            </a:r>
            <a:endParaRPr lang="en-US" sz="1200" dirty="0"/>
          </a:p>
        </p:txBody>
      </p:sp>
      <p:sp>
        <p:nvSpPr>
          <p:cNvPr id="21" name="Shape 19"/>
          <p:cNvSpPr/>
          <p:nvPr/>
        </p:nvSpPr>
        <p:spPr>
          <a:xfrm>
            <a:off x="320040" y="3310128"/>
            <a:ext cx="4023360" cy="530352"/>
          </a:xfrm>
          <a:prstGeom prst="rect">
            <a:avLst/>
          </a:prstGeom>
          <a:solidFill>
            <a:srgbClr val="162234"/>
          </a:solidFill>
          <a:ln/>
        </p:spPr>
        <p:txBody>
          <a:bodyPr/>
          <a:lstStyle/>
          <a:p>
            <a:endParaRPr lang="en-US"/>
          </a:p>
        </p:txBody>
      </p:sp>
      <p:sp>
        <p:nvSpPr>
          <p:cNvPr id="22" name="Shape 20"/>
          <p:cNvSpPr/>
          <p:nvPr/>
        </p:nvSpPr>
        <p:spPr>
          <a:xfrm>
            <a:off x="4800600" y="3310128"/>
            <a:ext cx="4023360" cy="530352"/>
          </a:xfrm>
          <a:prstGeom prst="rect">
            <a:avLst/>
          </a:prstGeom>
          <a:solidFill>
            <a:srgbClr val="162234"/>
          </a:solidFill>
          <a:ln/>
        </p:spPr>
        <p:txBody>
          <a:bodyPr/>
          <a:lstStyle/>
          <a:p>
            <a:endParaRPr lang="en-US"/>
          </a:p>
        </p:txBody>
      </p:sp>
      <p:sp>
        <p:nvSpPr>
          <p:cNvPr id="23" name="Text 21"/>
          <p:cNvSpPr/>
          <p:nvPr/>
        </p:nvSpPr>
        <p:spPr>
          <a:xfrm>
            <a:off x="457200" y="3401568"/>
            <a:ext cx="3749040" cy="365760"/>
          </a:xfrm>
          <a:prstGeom prst="rect">
            <a:avLst/>
          </a:prstGeom>
          <a:noFill/>
          <a:ln/>
        </p:spPr>
        <p:txBody>
          <a:bodyPr wrap="square" rtlCol="0" anchor="ctr"/>
          <a:lstStyle/>
          <a:p>
            <a:pPr marL="0" indent="0">
              <a:buNone/>
            </a:pPr>
            <a:r>
              <a:rPr lang="en-US" sz="1200" dirty="0">
                <a:solidFill>
                  <a:srgbClr val="FF9999"/>
                </a:solidFill>
                <a:latin typeface="Calibri" pitchFamily="34" charset="0"/>
                <a:ea typeface="Calibri" pitchFamily="34" charset="-122"/>
                <a:cs typeface="Calibri" pitchFamily="34" charset="-120"/>
              </a:rPr>
              <a:t>Manual provisioning of servers</a:t>
            </a:r>
            <a:endParaRPr lang="en-US" sz="1200" dirty="0"/>
          </a:p>
        </p:txBody>
      </p:sp>
      <p:sp>
        <p:nvSpPr>
          <p:cNvPr id="24" name="Text 22"/>
          <p:cNvSpPr/>
          <p:nvPr/>
        </p:nvSpPr>
        <p:spPr>
          <a:xfrm>
            <a:off x="4937760" y="3401568"/>
            <a:ext cx="3749040" cy="365760"/>
          </a:xfrm>
          <a:prstGeom prst="rect">
            <a:avLst/>
          </a:prstGeom>
          <a:noFill/>
          <a:ln/>
        </p:spPr>
        <p:txBody>
          <a:bodyPr wrap="square" rtlCol="0" anchor="ctr"/>
          <a:lstStyle/>
          <a:p>
            <a:pPr marL="0" indent="0">
              <a:buNone/>
            </a:pPr>
            <a:r>
              <a:rPr lang="en-US" sz="1200" dirty="0">
                <a:solidFill>
                  <a:srgbClr val="3DD68C"/>
                </a:solidFill>
                <a:latin typeface="Calibri" pitchFamily="34" charset="0"/>
                <a:ea typeface="Calibri" pitchFamily="34" charset="-122"/>
                <a:cs typeface="Calibri" pitchFamily="34" charset="-120"/>
              </a:rPr>
              <a:t>Infrastructure spins up via code</a:t>
            </a:r>
            <a:endParaRPr lang="en-US" sz="1200" dirty="0"/>
          </a:p>
        </p:txBody>
      </p:sp>
      <p:sp>
        <p:nvSpPr>
          <p:cNvPr id="25" name="Shape 23"/>
          <p:cNvSpPr/>
          <p:nvPr/>
        </p:nvSpPr>
        <p:spPr>
          <a:xfrm>
            <a:off x="320040" y="3895344"/>
            <a:ext cx="4023360" cy="530352"/>
          </a:xfrm>
          <a:prstGeom prst="rect">
            <a:avLst/>
          </a:prstGeom>
          <a:solidFill>
            <a:srgbClr val="1A2E45"/>
          </a:solidFill>
          <a:ln/>
        </p:spPr>
        <p:txBody>
          <a:bodyPr/>
          <a:lstStyle/>
          <a:p>
            <a:endParaRPr lang="en-US"/>
          </a:p>
        </p:txBody>
      </p:sp>
      <p:sp>
        <p:nvSpPr>
          <p:cNvPr id="26" name="Shape 24"/>
          <p:cNvSpPr/>
          <p:nvPr/>
        </p:nvSpPr>
        <p:spPr>
          <a:xfrm>
            <a:off x="4800600" y="3895344"/>
            <a:ext cx="4023360" cy="530352"/>
          </a:xfrm>
          <a:prstGeom prst="rect">
            <a:avLst/>
          </a:prstGeom>
          <a:solidFill>
            <a:srgbClr val="1A2E45"/>
          </a:solidFill>
          <a:ln/>
        </p:spPr>
        <p:txBody>
          <a:bodyPr/>
          <a:lstStyle/>
          <a:p>
            <a:endParaRPr lang="en-US"/>
          </a:p>
        </p:txBody>
      </p:sp>
      <p:sp>
        <p:nvSpPr>
          <p:cNvPr id="27" name="Text 25"/>
          <p:cNvSpPr/>
          <p:nvPr/>
        </p:nvSpPr>
        <p:spPr>
          <a:xfrm>
            <a:off x="457200" y="3986784"/>
            <a:ext cx="3749040" cy="365760"/>
          </a:xfrm>
          <a:prstGeom prst="rect">
            <a:avLst/>
          </a:prstGeom>
          <a:noFill/>
          <a:ln/>
        </p:spPr>
        <p:txBody>
          <a:bodyPr wrap="square" rtlCol="0" anchor="ctr"/>
          <a:lstStyle/>
          <a:p>
            <a:pPr marL="0" indent="0">
              <a:buNone/>
            </a:pPr>
            <a:r>
              <a:rPr lang="en-US" sz="1200" dirty="0">
                <a:solidFill>
                  <a:srgbClr val="FF9999"/>
                </a:solidFill>
                <a:latin typeface="Calibri" pitchFamily="34" charset="0"/>
                <a:ea typeface="Calibri" pitchFamily="34" charset="-122"/>
                <a:cs typeface="Calibri" pitchFamily="34" charset="-120"/>
              </a:rPr>
              <a:t>Silent failures found by customers</a:t>
            </a:r>
            <a:endParaRPr lang="en-US" sz="1200" dirty="0"/>
          </a:p>
        </p:txBody>
      </p:sp>
      <p:sp>
        <p:nvSpPr>
          <p:cNvPr id="28" name="Text 26"/>
          <p:cNvSpPr/>
          <p:nvPr/>
        </p:nvSpPr>
        <p:spPr>
          <a:xfrm>
            <a:off x="4937760" y="3986784"/>
            <a:ext cx="3749040" cy="365760"/>
          </a:xfrm>
          <a:prstGeom prst="rect">
            <a:avLst/>
          </a:prstGeom>
          <a:noFill/>
          <a:ln/>
        </p:spPr>
        <p:txBody>
          <a:bodyPr wrap="square" rtlCol="0" anchor="ctr"/>
          <a:lstStyle/>
          <a:p>
            <a:pPr marL="0" indent="0">
              <a:buNone/>
            </a:pPr>
            <a:r>
              <a:rPr lang="en-US" sz="1200" dirty="0">
                <a:solidFill>
                  <a:srgbClr val="3DD68C"/>
                </a:solidFill>
                <a:latin typeface="Calibri" pitchFamily="34" charset="0"/>
                <a:ea typeface="Calibri" pitchFamily="34" charset="-122"/>
                <a:cs typeface="Calibri" pitchFamily="34" charset="-120"/>
              </a:rPr>
              <a:t>Alerts before users ever notice</a:t>
            </a:r>
            <a:endParaRPr lang="en-US" sz="1200" dirty="0"/>
          </a:p>
        </p:txBody>
      </p:sp>
      <p:sp>
        <p:nvSpPr>
          <p:cNvPr id="29" name="Shape 27"/>
          <p:cNvSpPr/>
          <p:nvPr/>
        </p:nvSpPr>
        <p:spPr>
          <a:xfrm>
            <a:off x="320040" y="4480560"/>
            <a:ext cx="4023360" cy="530352"/>
          </a:xfrm>
          <a:prstGeom prst="rect">
            <a:avLst/>
          </a:prstGeom>
          <a:solidFill>
            <a:srgbClr val="162234"/>
          </a:solidFill>
          <a:ln/>
        </p:spPr>
        <p:txBody>
          <a:bodyPr/>
          <a:lstStyle/>
          <a:p>
            <a:endParaRPr lang="en-US"/>
          </a:p>
        </p:txBody>
      </p:sp>
      <p:sp>
        <p:nvSpPr>
          <p:cNvPr id="30" name="Shape 28"/>
          <p:cNvSpPr/>
          <p:nvPr/>
        </p:nvSpPr>
        <p:spPr>
          <a:xfrm>
            <a:off x="4800600" y="4480560"/>
            <a:ext cx="4023360" cy="530352"/>
          </a:xfrm>
          <a:prstGeom prst="rect">
            <a:avLst/>
          </a:prstGeom>
          <a:solidFill>
            <a:srgbClr val="162234"/>
          </a:solidFill>
          <a:ln/>
        </p:spPr>
        <p:txBody>
          <a:bodyPr/>
          <a:lstStyle/>
          <a:p>
            <a:endParaRPr lang="en-US"/>
          </a:p>
        </p:txBody>
      </p:sp>
      <p:sp>
        <p:nvSpPr>
          <p:cNvPr id="31" name="Text 29"/>
          <p:cNvSpPr/>
          <p:nvPr/>
        </p:nvSpPr>
        <p:spPr>
          <a:xfrm>
            <a:off x="457200" y="4572000"/>
            <a:ext cx="3749040" cy="365760"/>
          </a:xfrm>
          <a:prstGeom prst="rect">
            <a:avLst/>
          </a:prstGeom>
          <a:noFill/>
          <a:ln/>
        </p:spPr>
        <p:txBody>
          <a:bodyPr wrap="square" rtlCol="0" anchor="ctr"/>
          <a:lstStyle/>
          <a:p>
            <a:pPr marL="0" indent="0">
              <a:buNone/>
            </a:pPr>
            <a:r>
              <a:rPr lang="en-US" sz="1200" dirty="0">
                <a:solidFill>
                  <a:srgbClr val="FF9999"/>
                </a:solidFill>
                <a:latin typeface="Calibri" pitchFamily="34" charset="0"/>
                <a:ea typeface="Calibri" pitchFamily="34" charset="-122"/>
                <a:cs typeface="Calibri" pitchFamily="34" charset="-120"/>
              </a:rPr>
              <a:t>Knowledge siloed in individuals</a:t>
            </a:r>
            <a:endParaRPr lang="en-US" sz="1200" dirty="0"/>
          </a:p>
        </p:txBody>
      </p:sp>
      <p:sp>
        <p:nvSpPr>
          <p:cNvPr id="32" name="Text 30"/>
          <p:cNvSpPr/>
          <p:nvPr/>
        </p:nvSpPr>
        <p:spPr>
          <a:xfrm>
            <a:off x="4937760" y="4572000"/>
            <a:ext cx="3749040" cy="365760"/>
          </a:xfrm>
          <a:prstGeom prst="rect">
            <a:avLst/>
          </a:prstGeom>
          <a:noFill/>
          <a:ln/>
        </p:spPr>
        <p:txBody>
          <a:bodyPr wrap="square" rtlCol="0" anchor="ctr"/>
          <a:lstStyle/>
          <a:p>
            <a:pPr marL="0" indent="0">
              <a:buNone/>
            </a:pPr>
            <a:r>
              <a:rPr lang="en-US" sz="1200" dirty="0">
                <a:solidFill>
                  <a:srgbClr val="3DD68C"/>
                </a:solidFill>
                <a:latin typeface="Calibri" pitchFamily="34" charset="0"/>
                <a:ea typeface="Calibri" pitchFamily="34" charset="-122"/>
                <a:cs typeface="Calibri" pitchFamily="34" charset="-120"/>
              </a:rPr>
              <a:t>Documented, automated, team-wide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QA Part 1">
    <p:bg>
      <p:bgPr>
        <a:solidFill>
          <a:srgbClr val="0D1B2A"/>
        </a:solidFill>
        <a:effectLst/>
      </p:bgPr>
    </p:bg>
    <p:spTree>
      <p:nvGrpSpPr>
        <p:cNvPr id="1" name=""/>
        <p:cNvGrpSpPr/>
        <p:nvPr/>
      </p:nvGrpSpPr>
      <p:grpSpPr>
        <a:xfrm>
          <a:off x="0" y="0"/>
          <a:ext cx="0" cy="0"/>
          <a:chOff x="0" y="0"/>
          <a:chExt cx="0" cy="0"/>
        </a:xfrm>
      </p:grpSpPr>
      <p:sp>
        <p:nvSpPr>
          <p:cNvPr id="2" name="HeaderBar"/>
          <p:cNvSpPr/>
          <p:nvPr/>
        </p:nvSpPr>
        <p:spPr>
          <a:xfrm>
            <a:off x="0" y="0"/>
            <a:ext cx="9144000" cy="1005840"/>
          </a:xfrm>
          <a:prstGeom prst="rect">
            <a:avLst/>
          </a:prstGeom>
          <a:solidFill>
            <a:srgbClr val="1A2E45"/>
          </a:solidFill>
          <a:ln/>
        </p:spPr>
        <p:txBody>
          <a:bodyPr/>
          <a:lstStyle/>
          <a:p>
            <a:endParaRPr lang="en-US"/>
          </a:p>
        </p:txBody>
      </p:sp>
      <p:sp>
        <p:nvSpPr>
          <p:cNvPr id="3" name="Title"/>
          <p:cNvSpPr/>
          <p:nvPr/>
        </p:nvSpPr>
        <p:spPr>
          <a:xfrm>
            <a:off x="411480" y="182880"/>
            <a:ext cx="7000000" cy="640080"/>
          </a:xfrm>
          <a:prstGeom prst="rect">
            <a:avLst/>
          </a:prstGeom>
          <a:noFill/>
          <a:ln/>
        </p:spPr>
        <p:txBody>
          <a:bodyPr wrap="square" rtlCol="0" anchor="ctr"/>
          <a:lstStyle/>
          <a:p>
            <a:r>
              <a:rPr lang="en-US" sz="2400" dirty="0">
                <a:solidFill>
                  <a:schemeClr val="bg1"/>
                </a:solidFill>
              </a:rPr>
              <a:t>Question and Answer (Q&amp;A)</a:t>
            </a:r>
            <a:r>
              <a:rPr lang="en-US" sz="3200" b="1" dirty="0">
                <a:solidFill>
                  <a:schemeClr val="bg1"/>
                </a:solidFill>
                <a:latin typeface="Calibri" pitchFamily="34" charset="0"/>
              </a:rPr>
              <a:t> </a:t>
            </a:r>
            <a:r>
              <a:rPr lang="en-US" sz="2600" b="1" dirty="0">
                <a:solidFill>
                  <a:srgbClr val="FFFFFF"/>
                </a:solidFill>
                <a:latin typeface="Calibri" pitchFamily="34" charset="0"/>
              </a:rPr>
              <a:t>— Part 1</a:t>
            </a:r>
          </a:p>
        </p:txBody>
      </p:sp>
      <p:sp>
        <p:nvSpPr>
          <p:cNvPr id="4" name="SlideLabel"/>
          <p:cNvSpPr/>
          <p:nvPr/>
        </p:nvSpPr>
        <p:spPr>
          <a:xfrm>
            <a:off x="7500000" y="182880"/>
            <a:ext cx="1400000" cy="640080"/>
          </a:xfrm>
          <a:prstGeom prst="rect">
            <a:avLst/>
          </a:prstGeom>
          <a:noFill/>
          <a:ln/>
        </p:spPr>
        <p:txBody>
          <a:bodyPr wrap="square" rtlCol="0" anchor="ctr"/>
          <a:lstStyle/>
          <a:p>
            <a:pPr marL="0" indent="0" algn="r">
              <a:buNone/>
            </a:pPr>
            <a:r>
              <a:rPr lang="en-US" sz="1400" b="0" dirty="0">
                <a:solidFill>
                  <a:srgbClr val="00C9B1"/>
                </a:solidFill>
                <a:latin typeface="Calibri" pitchFamily="34" charset="0"/>
              </a:rPr>
              <a:t>Q &amp; A</a:t>
            </a:r>
          </a:p>
        </p:txBody>
      </p:sp>
      <p:sp>
        <p:nvSpPr>
          <p:cNvPr id="10" name="CardBg10"/>
          <p:cNvSpPr/>
          <p:nvPr/>
        </p:nvSpPr>
        <p:spPr>
          <a:xfrm>
            <a:off x="228600" y="1090000"/>
            <a:ext cx="8686800" cy="1820000"/>
          </a:xfrm>
          <a:prstGeom prst="rect">
            <a:avLst/>
          </a:prstGeom>
          <a:solidFill>
            <a:srgbClr val="162234"/>
          </a:solidFill>
          <a:ln w="25400">
            <a:solidFill>
              <a:srgbClr val="00C9B1"/>
            </a:solidFill>
          </a:ln>
        </p:spPr>
        <p:txBody>
          <a:bodyPr/>
          <a:lstStyle/>
          <a:p>
            <a:endParaRPr lang="en-US"/>
          </a:p>
        </p:txBody>
      </p:sp>
      <p:sp>
        <p:nvSpPr>
          <p:cNvPr id="11" name="AccentBar10"/>
          <p:cNvSpPr/>
          <p:nvPr/>
        </p:nvSpPr>
        <p:spPr>
          <a:xfrm>
            <a:off x="228600" y="1090000"/>
            <a:ext cx="8686800" cy="170000"/>
          </a:xfrm>
          <a:prstGeom prst="rect">
            <a:avLst/>
          </a:prstGeom>
          <a:solidFill>
            <a:srgbClr val="00C9B1"/>
          </a:solidFill>
          <a:ln/>
        </p:spPr>
        <p:txBody>
          <a:bodyPr/>
          <a:lstStyle/>
          <a:p>
            <a:endParaRPr lang="en-US"/>
          </a:p>
        </p:txBody>
      </p:sp>
      <p:sp>
        <p:nvSpPr>
          <p:cNvPr id="12" name="QLabel10"/>
          <p:cNvSpPr/>
          <p:nvPr/>
        </p:nvSpPr>
        <p:spPr>
          <a:xfrm>
            <a:off x="358600" y="1110000"/>
            <a:ext cx="300000" cy="150000"/>
          </a:xfrm>
          <a:prstGeom prst="rect">
            <a:avLst/>
          </a:prstGeom>
          <a:noFill/>
          <a:ln/>
        </p:spPr>
        <p:txBody>
          <a:bodyPr wrap="square" rtlCol="0" anchor="ctr"/>
          <a:lstStyle/>
          <a:p>
            <a:pPr marL="0" indent="0">
              <a:buNone/>
            </a:pPr>
            <a:endParaRPr lang="en-US" sz="1600" b="1" dirty="0">
              <a:solidFill>
                <a:srgbClr val="0D1B2A"/>
              </a:solidFill>
              <a:latin typeface="Calibri" pitchFamily="34" charset="0"/>
            </a:endParaRPr>
          </a:p>
        </p:txBody>
      </p:sp>
      <p:sp>
        <p:nvSpPr>
          <p:cNvPr id="13" name="Question10"/>
          <p:cNvSpPr/>
          <p:nvPr/>
        </p:nvSpPr>
        <p:spPr>
          <a:xfrm>
            <a:off x="358600" y="1360000"/>
            <a:ext cx="8426800" cy="310000"/>
          </a:xfrm>
          <a:prstGeom prst="rect">
            <a:avLst/>
          </a:prstGeom>
          <a:noFill/>
          <a:ln/>
        </p:spPr>
        <p:txBody>
          <a:bodyPr wrap="square" rtlCol="0" anchor="t"/>
          <a:lstStyle/>
          <a:p>
            <a:pPr marL="0" indent="0">
              <a:buNone/>
            </a:pPr>
            <a:r>
              <a:rPr lang="en-US" sz="1500" b="1" dirty="0">
                <a:solidFill>
                  <a:srgbClr val="FFFFFF"/>
                </a:solidFill>
                <a:latin typeface="Calibri" pitchFamily="34" charset="0"/>
              </a:rPr>
              <a:t>What is DevOps and why did businesses start using it?</a:t>
            </a:r>
          </a:p>
        </p:txBody>
      </p:sp>
      <p:sp>
        <p:nvSpPr>
          <p:cNvPr id="14" name="ALabel10"/>
          <p:cNvSpPr/>
          <p:nvPr/>
        </p:nvSpPr>
        <p:spPr>
          <a:xfrm>
            <a:off x="358600" y="1730000"/>
            <a:ext cx="300000" cy="280000"/>
          </a:xfrm>
          <a:prstGeom prst="rect">
            <a:avLst/>
          </a:prstGeom>
          <a:solidFill>
            <a:srgbClr val="00C9B1"/>
          </a:solidFill>
          <a:ln/>
        </p:spPr>
        <p:txBody>
          <a:bodyPr wrap="square" rtlCol="0" anchor="ctr"/>
          <a:lstStyle/>
          <a:p>
            <a:pPr marL="0" indent="0" algn="ctr">
              <a:buNone/>
            </a:pPr>
            <a:r>
              <a:rPr lang="en-US" sz="1400" b="1" dirty="0">
                <a:solidFill>
                  <a:srgbClr val="0D1B2A"/>
                </a:solidFill>
                <a:latin typeface="Calibri" pitchFamily="34" charset="0"/>
              </a:rPr>
              <a:t>A</a:t>
            </a:r>
          </a:p>
        </p:txBody>
      </p:sp>
      <p:sp>
        <p:nvSpPr>
          <p:cNvPr id="15" name="Answer10"/>
          <p:cNvSpPr/>
          <p:nvPr/>
        </p:nvSpPr>
        <p:spPr>
          <a:xfrm>
            <a:off x="688600" y="1730000"/>
            <a:ext cx="8096800" cy="1280000"/>
          </a:xfrm>
          <a:prstGeom prst="rect">
            <a:avLst/>
          </a:prstGeom>
          <a:noFill/>
          <a:ln/>
        </p:spPr>
        <p:txBody>
          <a:bodyPr wrap="square" rtlCol="0" anchor="t"/>
          <a:lstStyle/>
          <a:p>
            <a:pPr marL="0" indent="0">
              <a:buNone/>
            </a:pPr>
            <a:r>
              <a:rPr lang="en-US" sz="1300" dirty="0">
                <a:solidFill>
                  <a:srgbClr val="A8C0D6"/>
                </a:solidFill>
                <a:latin typeface="Calibri" pitchFamily="34" charset="0"/>
              </a:rPr>
              <a:t>DevOps combines Development and Operations teams into one workflow. Businesses adopted it because traditional release cycles took months, causing delays and costly bugs. DevOps allows faster, safer, and more frequent software releases.</a:t>
            </a:r>
          </a:p>
        </p:txBody>
      </p:sp>
      <p:sp>
        <p:nvSpPr>
          <p:cNvPr id="20" name="CardBg20"/>
          <p:cNvSpPr/>
          <p:nvPr/>
        </p:nvSpPr>
        <p:spPr>
          <a:xfrm>
            <a:off x="228600" y="3020000"/>
            <a:ext cx="8686800" cy="1820000"/>
          </a:xfrm>
          <a:prstGeom prst="rect">
            <a:avLst/>
          </a:prstGeom>
          <a:solidFill>
            <a:srgbClr val="162234"/>
          </a:solidFill>
          <a:ln w="25400">
            <a:solidFill>
              <a:srgbClr val="F5A623"/>
            </a:solidFill>
          </a:ln>
        </p:spPr>
        <p:txBody>
          <a:bodyPr/>
          <a:lstStyle/>
          <a:p>
            <a:endParaRPr lang="en-US"/>
          </a:p>
        </p:txBody>
      </p:sp>
      <p:sp>
        <p:nvSpPr>
          <p:cNvPr id="21" name="AccentBar20"/>
          <p:cNvSpPr/>
          <p:nvPr/>
        </p:nvSpPr>
        <p:spPr>
          <a:xfrm>
            <a:off x="228600" y="3020000"/>
            <a:ext cx="8686800" cy="170000"/>
          </a:xfrm>
          <a:prstGeom prst="rect">
            <a:avLst/>
          </a:prstGeom>
          <a:solidFill>
            <a:srgbClr val="F5A623"/>
          </a:solidFill>
          <a:ln/>
        </p:spPr>
        <p:txBody>
          <a:bodyPr/>
          <a:lstStyle/>
          <a:p>
            <a:endParaRPr lang="en-US"/>
          </a:p>
        </p:txBody>
      </p:sp>
      <p:sp>
        <p:nvSpPr>
          <p:cNvPr id="22" name="QLabel20"/>
          <p:cNvSpPr/>
          <p:nvPr/>
        </p:nvSpPr>
        <p:spPr>
          <a:xfrm>
            <a:off x="358600" y="3040000"/>
            <a:ext cx="300000" cy="150000"/>
          </a:xfrm>
          <a:prstGeom prst="rect">
            <a:avLst/>
          </a:prstGeom>
          <a:noFill/>
          <a:ln/>
        </p:spPr>
        <p:txBody>
          <a:bodyPr wrap="square" rtlCol="0" anchor="ctr"/>
          <a:lstStyle/>
          <a:p>
            <a:pPr marL="0" indent="0">
              <a:buNone/>
            </a:pPr>
            <a:endParaRPr lang="en-US" sz="1600" b="1" dirty="0">
              <a:solidFill>
                <a:srgbClr val="0D1B2A"/>
              </a:solidFill>
              <a:latin typeface="Calibri" pitchFamily="34" charset="0"/>
            </a:endParaRPr>
          </a:p>
        </p:txBody>
      </p:sp>
      <p:sp>
        <p:nvSpPr>
          <p:cNvPr id="23" name="Question20"/>
          <p:cNvSpPr/>
          <p:nvPr/>
        </p:nvSpPr>
        <p:spPr>
          <a:xfrm>
            <a:off x="358600" y="3290000"/>
            <a:ext cx="8426800" cy="310000"/>
          </a:xfrm>
          <a:prstGeom prst="rect">
            <a:avLst/>
          </a:prstGeom>
          <a:noFill/>
          <a:ln/>
        </p:spPr>
        <p:txBody>
          <a:bodyPr wrap="square" rtlCol="0" anchor="t"/>
          <a:lstStyle/>
          <a:p>
            <a:pPr marL="0" indent="0">
              <a:buNone/>
            </a:pPr>
            <a:r>
              <a:rPr lang="en-US" sz="1500" b="1" dirty="0">
                <a:solidFill>
                  <a:srgbClr val="FFFFFF"/>
                </a:solidFill>
                <a:latin typeface="Calibri" pitchFamily="34" charset="0"/>
              </a:rPr>
              <a:t>What is CI/CD and how does it help a team?</a:t>
            </a:r>
          </a:p>
        </p:txBody>
      </p:sp>
      <p:sp>
        <p:nvSpPr>
          <p:cNvPr id="24" name="ALabel20"/>
          <p:cNvSpPr/>
          <p:nvPr/>
        </p:nvSpPr>
        <p:spPr>
          <a:xfrm>
            <a:off x="358600" y="3660000"/>
            <a:ext cx="300000" cy="280000"/>
          </a:xfrm>
          <a:prstGeom prst="rect">
            <a:avLst/>
          </a:prstGeom>
          <a:solidFill>
            <a:srgbClr val="F5A623"/>
          </a:solidFill>
          <a:ln/>
        </p:spPr>
        <p:txBody>
          <a:bodyPr wrap="square" rtlCol="0" anchor="ctr"/>
          <a:lstStyle/>
          <a:p>
            <a:pPr marL="0" indent="0" algn="ctr">
              <a:buNone/>
            </a:pPr>
            <a:r>
              <a:rPr lang="en-US" sz="1400" b="1" dirty="0">
                <a:solidFill>
                  <a:srgbClr val="0D1B2A"/>
                </a:solidFill>
                <a:latin typeface="Calibri" pitchFamily="34" charset="0"/>
              </a:rPr>
              <a:t>A</a:t>
            </a:r>
          </a:p>
        </p:txBody>
      </p:sp>
      <p:sp>
        <p:nvSpPr>
          <p:cNvPr id="25" name="Answer20"/>
          <p:cNvSpPr/>
          <p:nvPr/>
        </p:nvSpPr>
        <p:spPr>
          <a:xfrm>
            <a:off x="688600" y="3660000"/>
            <a:ext cx="8096800" cy="1280000"/>
          </a:xfrm>
          <a:prstGeom prst="rect">
            <a:avLst/>
          </a:prstGeom>
          <a:noFill/>
          <a:ln/>
        </p:spPr>
        <p:txBody>
          <a:bodyPr wrap="square" rtlCol="0" anchor="t"/>
          <a:lstStyle/>
          <a:p>
            <a:pPr marL="0" indent="0">
              <a:buNone/>
            </a:pPr>
            <a:r>
              <a:rPr lang="en-US" sz="1300" dirty="0">
                <a:solidFill>
                  <a:srgbClr val="A8C0D6"/>
                </a:solidFill>
                <a:latin typeface="Calibri" pitchFamily="34" charset="0"/>
              </a:rPr>
              <a:t>CI/CD stands for Continuous Integration and Continuous Delivery. Every time a developer pushes code, it is automatically tested and deployed. This means bugs are caught early, releases happen faster, and there is no need for big risky launches.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QA Part 2">
    <p:bg>
      <p:bgPr>
        <a:solidFill>
          <a:srgbClr val="0D1B2A"/>
        </a:solidFill>
        <a:effectLst/>
      </p:bgPr>
    </p:bg>
    <p:spTree>
      <p:nvGrpSpPr>
        <p:cNvPr id="1" name=""/>
        <p:cNvGrpSpPr/>
        <p:nvPr/>
      </p:nvGrpSpPr>
      <p:grpSpPr>
        <a:xfrm>
          <a:off x="0" y="0"/>
          <a:ext cx="0" cy="0"/>
          <a:chOff x="0" y="0"/>
          <a:chExt cx="0" cy="0"/>
        </a:xfrm>
      </p:grpSpPr>
      <p:sp>
        <p:nvSpPr>
          <p:cNvPr id="2" name="HeaderBar"/>
          <p:cNvSpPr/>
          <p:nvPr/>
        </p:nvSpPr>
        <p:spPr>
          <a:xfrm>
            <a:off x="0" y="0"/>
            <a:ext cx="9144000" cy="1005840"/>
          </a:xfrm>
          <a:prstGeom prst="rect">
            <a:avLst/>
          </a:prstGeom>
          <a:solidFill>
            <a:srgbClr val="1A2E45"/>
          </a:solidFill>
          <a:ln/>
        </p:spPr>
        <p:txBody>
          <a:bodyPr/>
          <a:lstStyle/>
          <a:p>
            <a:endParaRPr lang="en-US"/>
          </a:p>
        </p:txBody>
      </p:sp>
      <p:sp>
        <p:nvSpPr>
          <p:cNvPr id="3" name="Title"/>
          <p:cNvSpPr/>
          <p:nvPr/>
        </p:nvSpPr>
        <p:spPr>
          <a:xfrm>
            <a:off x="411479" y="182880"/>
            <a:ext cx="8030391" cy="640080"/>
          </a:xfrm>
          <a:prstGeom prst="rect">
            <a:avLst/>
          </a:prstGeom>
          <a:noFill/>
          <a:ln/>
        </p:spPr>
        <p:txBody>
          <a:bodyPr wrap="square" rtlCol="0" anchor="ctr"/>
          <a:lstStyle/>
          <a:p>
            <a:r>
              <a:rPr lang="en-US" sz="2800" dirty="0">
                <a:solidFill>
                  <a:schemeClr val="bg1"/>
                </a:solidFill>
              </a:rPr>
              <a:t>Question and Answer (Q&amp;A)</a:t>
            </a:r>
            <a:r>
              <a:rPr lang="en-US" sz="3600" b="1" dirty="0">
                <a:solidFill>
                  <a:schemeClr val="bg1"/>
                </a:solidFill>
                <a:latin typeface="Calibri" pitchFamily="34" charset="0"/>
              </a:rPr>
              <a:t> </a:t>
            </a:r>
            <a:endParaRPr lang="en-US" sz="3200" b="1" dirty="0">
              <a:solidFill>
                <a:srgbClr val="FFFFFF"/>
              </a:solidFill>
              <a:latin typeface="Calibri" pitchFamily="34" charset="0"/>
            </a:endParaRPr>
          </a:p>
        </p:txBody>
      </p:sp>
      <p:sp>
        <p:nvSpPr>
          <p:cNvPr id="4" name="SlideLabel"/>
          <p:cNvSpPr/>
          <p:nvPr/>
        </p:nvSpPr>
        <p:spPr>
          <a:xfrm>
            <a:off x="7500000" y="182880"/>
            <a:ext cx="1400000" cy="640080"/>
          </a:xfrm>
          <a:prstGeom prst="rect">
            <a:avLst/>
          </a:prstGeom>
          <a:noFill/>
          <a:ln/>
        </p:spPr>
        <p:txBody>
          <a:bodyPr wrap="square" rtlCol="0" anchor="ctr"/>
          <a:lstStyle/>
          <a:p>
            <a:pPr marL="0" indent="0" algn="r">
              <a:buNone/>
            </a:pPr>
            <a:r>
              <a:rPr lang="en-US" sz="1400" b="0" dirty="0">
                <a:solidFill>
                  <a:srgbClr val="00C9B1"/>
                </a:solidFill>
                <a:latin typeface="Calibri" pitchFamily="34" charset="0"/>
              </a:rPr>
              <a:t>Q &amp; A</a:t>
            </a:r>
          </a:p>
        </p:txBody>
      </p:sp>
      <p:sp>
        <p:nvSpPr>
          <p:cNvPr id="10" name="CardBg10"/>
          <p:cNvSpPr/>
          <p:nvPr/>
        </p:nvSpPr>
        <p:spPr>
          <a:xfrm>
            <a:off x="228600" y="1090000"/>
            <a:ext cx="8686800" cy="1820000"/>
          </a:xfrm>
          <a:prstGeom prst="rect">
            <a:avLst/>
          </a:prstGeom>
          <a:solidFill>
            <a:srgbClr val="162234"/>
          </a:solidFill>
          <a:ln w="25400">
            <a:solidFill>
              <a:srgbClr val="9B59B6"/>
            </a:solidFill>
          </a:ln>
        </p:spPr>
        <p:txBody>
          <a:bodyPr/>
          <a:lstStyle/>
          <a:p>
            <a:endParaRPr lang="en-US"/>
          </a:p>
        </p:txBody>
      </p:sp>
      <p:sp>
        <p:nvSpPr>
          <p:cNvPr id="11" name="AccentBar10"/>
          <p:cNvSpPr/>
          <p:nvPr/>
        </p:nvSpPr>
        <p:spPr>
          <a:xfrm>
            <a:off x="228600" y="1090000"/>
            <a:ext cx="8686800" cy="170000"/>
          </a:xfrm>
          <a:prstGeom prst="rect">
            <a:avLst/>
          </a:prstGeom>
          <a:solidFill>
            <a:srgbClr val="9B59B6"/>
          </a:solidFill>
          <a:ln/>
        </p:spPr>
        <p:txBody>
          <a:bodyPr/>
          <a:lstStyle/>
          <a:p>
            <a:endParaRPr lang="en-US"/>
          </a:p>
        </p:txBody>
      </p:sp>
      <p:sp>
        <p:nvSpPr>
          <p:cNvPr id="12" name="QLabel10"/>
          <p:cNvSpPr/>
          <p:nvPr/>
        </p:nvSpPr>
        <p:spPr>
          <a:xfrm>
            <a:off x="358600" y="1110000"/>
            <a:ext cx="300000" cy="150000"/>
          </a:xfrm>
          <a:prstGeom prst="rect">
            <a:avLst/>
          </a:prstGeom>
          <a:noFill/>
          <a:ln/>
        </p:spPr>
        <p:txBody>
          <a:bodyPr wrap="square" rtlCol="0" anchor="ctr"/>
          <a:lstStyle/>
          <a:p>
            <a:pPr marL="0" indent="0">
              <a:buNone/>
            </a:pPr>
            <a:endParaRPr lang="en-US" sz="1600" b="1" dirty="0">
              <a:solidFill>
                <a:srgbClr val="0D1B2A"/>
              </a:solidFill>
              <a:latin typeface="Calibri" pitchFamily="34" charset="0"/>
            </a:endParaRPr>
          </a:p>
        </p:txBody>
      </p:sp>
      <p:sp>
        <p:nvSpPr>
          <p:cNvPr id="13" name="Question10"/>
          <p:cNvSpPr/>
          <p:nvPr/>
        </p:nvSpPr>
        <p:spPr>
          <a:xfrm>
            <a:off x="358600" y="1360000"/>
            <a:ext cx="8426800" cy="310000"/>
          </a:xfrm>
          <a:prstGeom prst="rect">
            <a:avLst/>
          </a:prstGeom>
          <a:noFill/>
          <a:ln/>
        </p:spPr>
        <p:txBody>
          <a:bodyPr wrap="square" rtlCol="0" anchor="t"/>
          <a:lstStyle/>
          <a:p>
            <a:pPr marL="0" indent="0">
              <a:buNone/>
            </a:pPr>
            <a:r>
              <a:rPr lang="en-US" sz="1500" b="1" dirty="0">
                <a:solidFill>
                  <a:srgbClr val="FFFFFF"/>
                </a:solidFill>
                <a:latin typeface="Calibri" pitchFamily="34" charset="0"/>
              </a:rPr>
              <a:t>How does DevOps improve teamwork between developers and operations?</a:t>
            </a:r>
          </a:p>
        </p:txBody>
      </p:sp>
      <p:sp>
        <p:nvSpPr>
          <p:cNvPr id="14" name="ALabel10"/>
          <p:cNvSpPr/>
          <p:nvPr/>
        </p:nvSpPr>
        <p:spPr>
          <a:xfrm>
            <a:off x="358600" y="1730000"/>
            <a:ext cx="300000" cy="280000"/>
          </a:xfrm>
          <a:prstGeom prst="rect">
            <a:avLst/>
          </a:prstGeom>
          <a:solidFill>
            <a:srgbClr val="9B59B6"/>
          </a:solidFill>
          <a:ln/>
        </p:spPr>
        <p:txBody>
          <a:bodyPr wrap="square" rtlCol="0" anchor="ctr"/>
          <a:lstStyle/>
          <a:p>
            <a:pPr marL="0" indent="0" algn="ctr">
              <a:buNone/>
            </a:pPr>
            <a:r>
              <a:rPr lang="en-US" sz="1400" b="1" dirty="0">
                <a:solidFill>
                  <a:srgbClr val="0D1B2A"/>
                </a:solidFill>
                <a:latin typeface="Calibri" pitchFamily="34" charset="0"/>
              </a:rPr>
              <a:t>A</a:t>
            </a:r>
          </a:p>
        </p:txBody>
      </p:sp>
      <p:sp>
        <p:nvSpPr>
          <p:cNvPr id="15" name="Answer10"/>
          <p:cNvSpPr/>
          <p:nvPr/>
        </p:nvSpPr>
        <p:spPr>
          <a:xfrm>
            <a:off x="688600" y="1730000"/>
            <a:ext cx="8096800" cy="1280000"/>
          </a:xfrm>
          <a:prstGeom prst="rect">
            <a:avLst/>
          </a:prstGeom>
          <a:noFill/>
          <a:ln/>
        </p:spPr>
        <p:txBody>
          <a:bodyPr wrap="square" rtlCol="0" anchor="t"/>
          <a:lstStyle/>
          <a:p>
            <a:pPr marL="0" indent="0">
              <a:buNone/>
            </a:pPr>
            <a:r>
              <a:rPr lang="en-US" sz="1300" dirty="0">
                <a:solidFill>
                  <a:srgbClr val="A8C0D6"/>
                </a:solidFill>
                <a:latin typeface="Calibri" pitchFamily="34" charset="0"/>
              </a:rPr>
              <a:t>DevOps breaks down the wall between Dev and Ops. Both teams share responsibility for the product, which means fewer handoffs, less blame, and faster problem-solving. A shared ownership mindset leads to better communication and more reliable software.</a:t>
            </a:r>
          </a:p>
        </p:txBody>
      </p:sp>
      <p:sp>
        <p:nvSpPr>
          <p:cNvPr id="20" name="CardBg20"/>
          <p:cNvSpPr/>
          <p:nvPr/>
        </p:nvSpPr>
        <p:spPr>
          <a:xfrm>
            <a:off x="228600" y="3020000"/>
            <a:ext cx="8686800" cy="1820000"/>
          </a:xfrm>
          <a:prstGeom prst="rect">
            <a:avLst/>
          </a:prstGeom>
          <a:solidFill>
            <a:srgbClr val="162234"/>
          </a:solidFill>
          <a:ln w="25400">
            <a:solidFill>
              <a:srgbClr val="E74C3C"/>
            </a:solidFill>
          </a:ln>
        </p:spPr>
        <p:txBody>
          <a:bodyPr/>
          <a:lstStyle/>
          <a:p>
            <a:endParaRPr lang="en-US"/>
          </a:p>
        </p:txBody>
      </p:sp>
      <p:sp>
        <p:nvSpPr>
          <p:cNvPr id="21" name="AccentBar20"/>
          <p:cNvSpPr/>
          <p:nvPr/>
        </p:nvSpPr>
        <p:spPr>
          <a:xfrm>
            <a:off x="228600" y="3020000"/>
            <a:ext cx="8686800" cy="170000"/>
          </a:xfrm>
          <a:prstGeom prst="rect">
            <a:avLst/>
          </a:prstGeom>
          <a:solidFill>
            <a:srgbClr val="E74C3C"/>
          </a:solidFill>
          <a:ln/>
        </p:spPr>
        <p:txBody>
          <a:bodyPr/>
          <a:lstStyle/>
          <a:p>
            <a:endParaRPr lang="en-US"/>
          </a:p>
        </p:txBody>
      </p:sp>
      <p:sp>
        <p:nvSpPr>
          <p:cNvPr id="22" name="QLabel20"/>
          <p:cNvSpPr/>
          <p:nvPr/>
        </p:nvSpPr>
        <p:spPr>
          <a:xfrm>
            <a:off x="358600" y="3040000"/>
            <a:ext cx="300000" cy="150000"/>
          </a:xfrm>
          <a:prstGeom prst="rect">
            <a:avLst/>
          </a:prstGeom>
          <a:noFill/>
          <a:ln/>
        </p:spPr>
        <p:txBody>
          <a:bodyPr wrap="square" rtlCol="0" anchor="ctr"/>
          <a:lstStyle/>
          <a:p>
            <a:pPr marL="0" indent="0">
              <a:buNone/>
            </a:pPr>
            <a:endParaRPr lang="en-US" sz="1600" b="1" dirty="0">
              <a:solidFill>
                <a:srgbClr val="0D1B2A"/>
              </a:solidFill>
              <a:latin typeface="Calibri" pitchFamily="34" charset="0"/>
            </a:endParaRPr>
          </a:p>
        </p:txBody>
      </p:sp>
      <p:sp>
        <p:nvSpPr>
          <p:cNvPr id="23" name="Question20"/>
          <p:cNvSpPr/>
          <p:nvPr/>
        </p:nvSpPr>
        <p:spPr>
          <a:xfrm>
            <a:off x="358600" y="3290000"/>
            <a:ext cx="8426800" cy="310000"/>
          </a:xfrm>
          <a:prstGeom prst="rect">
            <a:avLst/>
          </a:prstGeom>
          <a:noFill/>
          <a:ln/>
        </p:spPr>
        <p:txBody>
          <a:bodyPr wrap="square" rtlCol="0" anchor="t"/>
          <a:lstStyle/>
          <a:p>
            <a:pPr marL="0" indent="0">
              <a:buNone/>
            </a:pPr>
            <a:r>
              <a:rPr lang="en-US" sz="1500" b="1" dirty="0">
                <a:solidFill>
                  <a:srgbClr val="FFFFFF"/>
                </a:solidFill>
                <a:latin typeface="Calibri" pitchFamily="34" charset="0"/>
              </a:rPr>
              <a:t>What measurable results do companies see after adopting DevOps?</a:t>
            </a:r>
          </a:p>
        </p:txBody>
      </p:sp>
      <p:sp>
        <p:nvSpPr>
          <p:cNvPr id="24" name="ALabel20"/>
          <p:cNvSpPr/>
          <p:nvPr/>
        </p:nvSpPr>
        <p:spPr>
          <a:xfrm>
            <a:off x="358600" y="3660000"/>
            <a:ext cx="300000" cy="280000"/>
          </a:xfrm>
          <a:prstGeom prst="rect">
            <a:avLst/>
          </a:prstGeom>
          <a:solidFill>
            <a:srgbClr val="E74C3C"/>
          </a:solidFill>
          <a:ln/>
        </p:spPr>
        <p:txBody>
          <a:bodyPr wrap="square" rtlCol="0" anchor="ctr"/>
          <a:lstStyle/>
          <a:p>
            <a:pPr marL="0" indent="0" algn="ctr">
              <a:buNone/>
            </a:pPr>
            <a:r>
              <a:rPr lang="en-US" sz="1400" b="1" dirty="0">
                <a:solidFill>
                  <a:srgbClr val="0D1B2A"/>
                </a:solidFill>
                <a:latin typeface="Calibri" pitchFamily="34" charset="0"/>
              </a:rPr>
              <a:t>A</a:t>
            </a:r>
          </a:p>
        </p:txBody>
      </p:sp>
      <p:sp>
        <p:nvSpPr>
          <p:cNvPr id="25" name="Answer20"/>
          <p:cNvSpPr/>
          <p:nvPr/>
        </p:nvSpPr>
        <p:spPr>
          <a:xfrm>
            <a:off x="688600" y="3660000"/>
            <a:ext cx="8096800" cy="1280000"/>
          </a:xfrm>
          <a:prstGeom prst="rect">
            <a:avLst/>
          </a:prstGeom>
          <a:noFill/>
          <a:ln/>
        </p:spPr>
        <p:txBody>
          <a:bodyPr wrap="square" rtlCol="0" anchor="t"/>
          <a:lstStyle/>
          <a:p>
            <a:pPr marL="0" indent="0">
              <a:buNone/>
            </a:pPr>
            <a:r>
              <a:rPr lang="en-US" sz="1300" dirty="0">
                <a:solidFill>
                  <a:srgbClr val="A8C0D6"/>
                </a:solidFill>
                <a:latin typeface="Calibri" pitchFamily="34" charset="0"/>
              </a:rPr>
              <a:t>According to the DORA 2023 report, top DevOps teams deploy 208 times more often and recover from issues 2,604 times faster than slow teams. They also have a 7x lower failure rate. Companies like Netflix and Amazon directly credit DevOps for their ability to scale and compete.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E45"/>
          </a:solidFill>
          <a:ln/>
        </p:spPr>
        <p:txBody>
          <a:bodyPr/>
          <a:lstStyle/>
          <a:p>
            <a:endParaRPr lang="en-US"/>
          </a:p>
        </p:txBody>
      </p:sp>
      <p:sp>
        <p:nvSpPr>
          <p:cNvPr id="4" name="Text 2"/>
          <p:cNvSpPr/>
          <p:nvPr/>
        </p:nvSpPr>
        <p:spPr>
          <a:xfrm>
            <a:off x="411480" y="137160"/>
            <a:ext cx="8503920" cy="64008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References &amp; Sources</a:t>
            </a:r>
            <a:endParaRPr lang="en-US" sz="2600" dirty="0"/>
          </a:p>
        </p:txBody>
      </p:sp>
      <p:sp>
        <p:nvSpPr>
          <p:cNvPr id="5" name="Shape 3"/>
          <p:cNvSpPr/>
          <p:nvPr/>
        </p:nvSpPr>
        <p:spPr>
          <a:xfrm>
            <a:off x="320040" y="1005840"/>
            <a:ext cx="8503920" cy="886968"/>
          </a:xfrm>
          <a:prstGeom prst="rect">
            <a:avLst/>
          </a:prstGeom>
          <a:solidFill>
            <a:srgbClr val="162234"/>
          </a:solidFill>
          <a:ln w="12700">
            <a:solidFill>
              <a:srgbClr val="243B55"/>
            </a:solidFill>
            <a:prstDash val="solid"/>
          </a:ln>
        </p:spPr>
        <p:txBody>
          <a:bodyPr/>
          <a:lstStyle/>
          <a:p>
            <a:endParaRPr lang="en-US"/>
          </a:p>
        </p:txBody>
      </p:sp>
      <p:sp>
        <p:nvSpPr>
          <p:cNvPr id="6" name="Shape 4"/>
          <p:cNvSpPr/>
          <p:nvPr/>
        </p:nvSpPr>
        <p:spPr>
          <a:xfrm>
            <a:off x="320040" y="1005840"/>
            <a:ext cx="411480" cy="886968"/>
          </a:xfrm>
          <a:prstGeom prst="rect">
            <a:avLst/>
          </a:prstGeom>
          <a:solidFill>
            <a:srgbClr val="00C9B1">
              <a:alpha val="50000"/>
            </a:srgbClr>
          </a:solidFill>
          <a:ln/>
        </p:spPr>
        <p:txBody>
          <a:bodyPr/>
          <a:lstStyle/>
          <a:p>
            <a:endParaRPr lang="en-US"/>
          </a:p>
        </p:txBody>
      </p:sp>
      <p:sp>
        <p:nvSpPr>
          <p:cNvPr id="7" name="Text 5"/>
          <p:cNvSpPr/>
          <p:nvPr/>
        </p:nvSpPr>
        <p:spPr>
          <a:xfrm>
            <a:off x="320040" y="1261872"/>
            <a:ext cx="411480" cy="365760"/>
          </a:xfrm>
          <a:prstGeom prst="rect">
            <a:avLst/>
          </a:prstGeom>
          <a:noFill/>
          <a:ln/>
        </p:spPr>
        <p:txBody>
          <a:bodyPr wrap="square" rtlCol="0" anchor="ctr"/>
          <a:lstStyle/>
          <a:p>
            <a:pPr marL="0" indent="0" algn="ctr">
              <a:buNone/>
            </a:pPr>
            <a:r>
              <a:rPr lang="en-US" sz="1200" b="1" dirty="0">
                <a:solidFill>
                  <a:srgbClr val="00C9B1"/>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822960" y="1060704"/>
            <a:ext cx="7863840" cy="320040"/>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DORA State of DevOps Report 2023 — Google Cloud  |  dora.dev/research/2023</a:t>
            </a:r>
            <a:endParaRPr lang="en-US" sz="1150" dirty="0"/>
          </a:p>
        </p:txBody>
      </p:sp>
      <p:sp>
        <p:nvSpPr>
          <p:cNvPr id="9" name="Text 7"/>
          <p:cNvSpPr/>
          <p:nvPr/>
        </p:nvSpPr>
        <p:spPr>
          <a:xfrm>
            <a:off x="822960" y="1408176"/>
            <a:ext cx="7863840" cy="457200"/>
          </a:xfrm>
          <a:prstGeom prst="rect">
            <a:avLst/>
          </a:prstGeom>
          <a:noFill/>
          <a:ln/>
        </p:spPr>
        <p:txBody>
          <a:bodyPr wrap="square" rtlCol="0" anchor="ctr"/>
          <a:lstStyle/>
          <a:p>
            <a:pPr marL="0" indent="0">
              <a:buNone/>
            </a:pPr>
            <a:r>
              <a:rPr lang="en-US" sz="1000" i="1" dirty="0">
                <a:solidFill>
                  <a:srgbClr val="A8B8CC"/>
                </a:solidFill>
                <a:latin typeface="Calibri" pitchFamily="34" charset="0"/>
                <a:ea typeface="Calibri" pitchFamily="34" charset="-122"/>
                <a:cs typeface="Calibri" pitchFamily="34" charset="-120"/>
              </a:rPr>
              <a:t>→ Survey of 36,000+ professionals. Shows top DevOps teams are far faster and more reliable than others.</a:t>
            </a:r>
            <a:endParaRPr lang="en-US" sz="1000" dirty="0"/>
          </a:p>
        </p:txBody>
      </p:sp>
      <p:sp>
        <p:nvSpPr>
          <p:cNvPr id="10" name="Shape 8"/>
          <p:cNvSpPr/>
          <p:nvPr/>
        </p:nvSpPr>
        <p:spPr>
          <a:xfrm>
            <a:off x="320040" y="2002536"/>
            <a:ext cx="8503920" cy="886968"/>
          </a:xfrm>
          <a:prstGeom prst="rect">
            <a:avLst/>
          </a:prstGeom>
          <a:solidFill>
            <a:srgbClr val="162234"/>
          </a:solidFill>
          <a:ln w="12700">
            <a:solidFill>
              <a:srgbClr val="243B55"/>
            </a:solidFill>
            <a:prstDash val="solid"/>
          </a:ln>
        </p:spPr>
        <p:txBody>
          <a:bodyPr/>
          <a:lstStyle/>
          <a:p>
            <a:endParaRPr lang="en-US"/>
          </a:p>
        </p:txBody>
      </p:sp>
      <p:sp>
        <p:nvSpPr>
          <p:cNvPr id="11" name="Shape 9"/>
          <p:cNvSpPr/>
          <p:nvPr/>
        </p:nvSpPr>
        <p:spPr>
          <a:xfrm>
            <a:off x="320040" y="2002536"/>
            <a:ext cx="411480" cy="886968"/>
          </a:xfrm>
          <a:prstGeom prst="rect">
            <a:avLst/>
          </a:prstGeom>
          <a:solidFill>
            <a:srgbClr val="00C9B1">
              <a:alpha val="50000"/>
            </a:srgbClr>
          </a:solidFill>
          <a:ln/>
        </p:spPr>
        <p:txBody>
          <a:bodyPr/>
          <a:lstStyle/>
          <a:p>
            <a:endParaRPr lang="en-US"/>
          </a:p>
        </p:txBody>
      </p:sp>
      <p:sp>
        <p:nvSpPr>
          <p:cNvPr id="12" name="Text 10"/>
          <p:cNvSpPr/>
          <p:nvPr/>
        </p:nvSpPr>
        <p:spPr>
          <a:xfrm>
            <a:off x="320040" y="2258568"/>
            <a:ext cx="411480" cy="365760"/>
          </a:xfrm>
          <a:prstGeom prst="rect">
            <a:avLst/>
          </a:prstGeom>
          <a:noFill/>
          <a:ln/>
        </p:spPr>
        <p:txBody>
          <a:bodyPr wrap="square" rtlCol="0" anchor="ctr"/>
          <a:lstStyle/>
          <a:p>
            <a:pPr marL="0" indent="0" algn="ctr">
              <a:buNone/>
            </a:pPr>
            <a:r>
              <a:rPr lang="en-US" sz="1200" b="1" dirty="0">
                <a:solidFill>
                  <a:srgbClr val="00C9B1"/>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822960" y="2057400"/>
            <a:ext cx="7863840" cy="320040"/>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Kim, G. et al. — The Phoenix Project (IT Revolution, 2013)  |  itrevolution.com/the-phoenix-project</a:t>
            </a:r>
            <a:endParaRPr lang="en-US" sz="1150" dirty="0"/>
          </a:p>
        </p:txBody>
      </p:sp>
      <p:sp>
        <p:nvSpPr>
          <p:cNvPr id="14" name="Text 12"/>
          <p:cNvSpPr/>
          <p:nvPr/>
        </p:nvSpPr>
        <p:spPr>
          <a:xfrm>
            <a:off x="822960" y="2404872"/>
            <a:ext cx="7863840" cy="457200"/>
          </a:xfrm>
          <a:prstGeom prst="rect">
            <a:avLst/>
          </a:prstGeom>
          <a:noFill/>
          <a:ln/>
        </p:spPr>
        <p:txBody>
          <a:bodyPr wrap="square" rtlCol="0" anchor="ctr"/>
          <a:lstStyle/>
          <a:p>
            <a:pPr marL="0" indent="0">
              <a:buNone/>
            </a:pPr>
            <a:r>
              <a:rPr lang="en-US" sz="1000" i="1" dirty="0">
                <a:solidFill>
                  <a:srgbClr val="A8B8CC"/>
                </a:solidFill>
                <a:latin typeface="Calibri" pitchFamily="34" charset="0"/>
                <a:ea typeface="Calibri" pitchFamily="34" charset="-122"/>
                <a:cs typeface="Calibri" pitchFamily="34" charset="-120"/>
              </a:rPr>
              <a:t>→ A book that introduced DevOps thinking. Shows how IT should be a value creator, not just a cost center.</a:t>
            </a:r>
            <a:endParaRPr lang="en-US" sz="1000" dirty="0"/>
          </a:p>
        </p:txBody>
      </p:sp>
      <p:sp>
        <p:nvSpPr>
          <p:cNvPr id="15" name="Shape 13"/>
          <p:cNvSpPr/>
          <p:nvPr/>
        </p:nvSpPr>
        <p:spPr>
          <a:xfrm>
            <a:off x="320040" y="2999232"/>
            <a:ext cx="8503920" cy="886968"/>
          </a:xfrm>
          <a:prstGeom prst="rect">
            <a:avLst/>
          </a:prstGeom>
          <a:solidFill>
            <a:srgbClr val="162234"/>
          </a:solidFill>
          <a:ln w="12700">
            <a:solidFill>
              <a:srgbClr val="243B55"/>
            </a:solidFill>
            <a:prstDash val="solid"/>
          </a:ln>
        </p:spPr>
        <p:txBody>
          <a:bodyPr/>
          <a:lstStyle/>
          <a:p>
            <a:endParaRPr lang="en-US"/>
          </a:p>
        </p:txBody>
      </p:sp>
      <p:sp>
        <p:nvSpPr>
          <p:cNvPr id="16" name="Shape 14"/>
          <p:cNvSpPr/>
          <p:nvPr/>
        </p:nvSpPr>
        <p:spPr>
          <a:xfrm>
            <a:off x="320040" y="2999232"/>
            <a:ext cx="411480" cy="886968"/>
          </a:xfrm>
          <a:prstGeom prst="rect">
            <a:avLst/>
          </a:prstGeom>
          <a:solidFill>
            <a:srgbClr val="00C9B1">
              <a:alpha val="50000"/>
            </a:srgbClr>
          </a:solidFill>
          <a:ln/>
        </p:spPr>
        <p:txBody>
          <a:bodyPr/>
          <a:lstStyle/>
          <a:p>
            <a:endParaRPr lang="en-US"/>
          </a:p>
        </p:txBody>
      </p:sp>
      <p:sp>
        <p:nvSpPr>
          <p:cNvPr id="17" name="Text 15"/>
          <p:cNvSpPr/>
          <p:nvPr/>
        </p:nvSpPr>
        <p:spPr>
          <a:xfrm>
            <a:off x="320040" y="3255264"/>
            <a:ext cx="411480" cy="365760"/>
          </a:xfrm>
          <a:prstGeom prst="rect">
            <a:avLst/>
          </a:prstGeom>
          <a:noFill/>
          <a:ln/>
        </p:spPr>
        <p:txBody>
          <a:bodyPr wrap="square" rtlCol="0" anchor="ctr"/>
          <a:lstStyle/>
          <a:p>
            <a:pPr marL="0" indent="0" algn="ctr">
              <a:buNone/>
            </a:pPr>
            <a:r>
              <a:rPr lang="en-US" sz="1200" b="1" dirty="0">
                <a:solidFill>
                  <a:srgbClr val="00C9B1"/>
                </a:solidFill>
                <a:latin typeface="Calibri" pitchFamily="34" charset="0"/>
                <a:ea typeface="Calibri" pitchFamily="34" charset="-122"/>
                <a:cs typeface="Calibri" pitchFamily="34" charset="-120"/>
              </a:rPr>
              <a:t>[3]</a:t>
            </a:r>
            <a:endParaRPr lang="en-US" sz="1200" dirty="0"/>
          </a:p>
        </p:txBody>
      </p:sp>
      <p:sp>
        <p:nvSpPr>
          <p:cNvPr id="18" name="Text 16"/>
          <p:cNvSpPr/>
          <p:nvPr/>
        </p:nvSpPr>
        <p:spPr>
          <a:xfrm>
            <a:off x="822960" y="3054096"/>
            <a:ext cx="7863840" cy="320040"/>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Humble, J. &amp; Farley, D. — Continuous Delivery (Addison-Wesley, 2010)  |  continuousdelivery.com</a:t>
            </a:r>
            <a:endParaRPr lang="en-US" sz="1150" dirty="0"/>
          </a:p>
        </p:txBody>
      </p:sp>
      <p:sp>
        <p:nvSpPr>
          <p:cNvPr id="19" name="Text 17"/>
          <p:cNvSpPr/>
          <p:nvPr/>
        </p:nvSpPr>
        <p:spPr>
          <a:xfrm>
            <a:off x="822960" y="3401568"/>
            <a:ext cx="7863840" cy="457200"/>
          </a:xfrm>
          <a:prstGeom prst="rect">
            <a:avLst/>
          </a:prstGeom>
          <a:noFill/>
          <a:ln/>
        </p:spPr>
        <p:txBody>
          <a:bodyPr wrap="square" rtlCol="0" anchor="ctr"/>
          <a:lstStyle/>
          <a:p>
            <a:pPr marL="0" indent="0">
              <a:buNone/>
            </a:pPr>
            <a:r>
              <a:rPr lang="en-US" sz="1000" i="1" dirty="0">
                <a:solidFill>
                  <a:srgbClr val="A8B8CC"/>
                </a:solidFill>
                <a:latin typeface="Calibri" pitchFamily="34" charset="0"/>
                <a:ea typeface="Calibri" pitchFamily="34" charset="-122"/>
                <a:cs typeface="Calibri" pitchFamily="34" charset="-120"/>
              </a:rPr>
              <a:t>→ A practical guide to building automated deployment pipelines. Key reference for CI/CD pipeline design.</a:t>
            </a:r>
            <a:endParaRPr lang="en-US" sz="1000" dirty="0"/>
          </a:p>
        </p:txBody>
      </p:sp>
      <p:sp>
        <p:nvSpPr>
          <p:cNvPr id="20" name="Shape 18"/>
          <p:cNvSpPr/>
          <p:nvPr/>
        </p:nvSpPr>
        <p:spPr>
          <a:xfrm>
            <a:off x="320040" y="3995928"/>
            <a:ext cx="8503920" cy="886968"/>
          </a:xfrm>
          <a:prstGeom prst="rect">
            <a:avLst/>
          </a:prstGeom>
          <a:solidFill>
            <a:srgbClr val="162234"/>
          </a:solidFill>
          <a:ln w="12700">
            <a:solidFill>
              <a:srgbClr val="243B55"/>
            </a:solidFill>
            <a:prstDash val="solid"/>
          </a:ln>
        </p:spPr>
        <p:txBody>
          <a:bodyPr/>
          <a:lstStyle/>
          <a:p>
            <a:endParaRPr lang="en-US"/>
          </a:p>
        </p:txBody>
      </p:sp>
      <p:sp>
        <p:nvSpPr>
          <p:cNvPr id="21" name="Shape 19"/>
          <p:cNvSpPr/>
          <p:nvPr/>
        </p:nvSpPr>
        <p:spPr>
          <a:xfrm>
            <a:off x="320040" y="3995928"/>
            <a:ext cx="411480" cy="886968"/>
          </a:xfrm>
          <a:prstGeom prst="rect">
            <a:avLst/>
          </a:prstGeom>
          <a:solidFill>
            <a:srgbClr val="00C9B1">
              <a:alpha val="50000"/>
            </a:srgbClr>
          </a:solidFill>
          <a:ln/>
        </p:spPr>
        <p:txBody>
          <a:bodyPr/>
          <a:lstStyle/>
          <a:p>
            <a:endParaRPr lang="en-US"/>
          </a:p>
        </p:txBody>
      </p:sp>
      <p:sp>
        <p:nvSpPr>
          <p:cNvPr id="22" name="Text 20"/>
          <p:cNvSpPr/>
          <p:nvPr/>
        </p:nvSpPr>
        <p:spPr>
          <a:xfrm>
            <a:off x="320040" y="4251960"/>
            <a:ext cx="411480" cy="365760"/>
          </a:xfrm>
          <a:prstGeom prst="rect">
            <a:avLst/>
          </a:prstGeom>
          <a:noFill/>
          <a:ln/>
        </p:spPr>
        <p:txBody>
          <a:bodyPr wrap="square" rtlCol="0" anchor="ctr"/>
          <a:lstStyle/>
          <a:p>
            <a:pPr marL="0" indent="0" algn="ctr">
              <a:buNone/>
            </a:pPr>
            <a:r>
              <a:rPr lang="en-US" sz="1200" b="1" dirty="0">
                <a:solidFill>
                  <a:srgbClr val="00C9B1"/>
                </a:solidFill>
                <a:latin typeface="Calibri" pitchFamily="34" charset="0"/>
                <a:ea typeface="Calibri" pitchFamily="34" charset="-122"/>
                <a:cs typeface="Calibri" pitchFamily="34" charset="-120"/>
              </a:rPr>
              <a:t>[4]</a:t>
            </a:r>
            <a:endParaRPr lang="en-US" sz="1200" dirty="0"/>
          </a:p>
        </p:txBody>
      </p:sp>
      <p:sp>
        <p:nvSpPr>
          <p:cNvPr id="23" name="Text 21"/>
          <p:cNvSpPr/>
          <p:nvPr/>
        </p:nvSpPr>
        <p:spPr>
          <a:xfrm>
            <a:off x="822960" y="4050792"/>
            <a:ext cx="7863840" cy="320040"/>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Netflix Tech Blog — Chaos Engineering at Scale  |  netflixtechblog.com</a:t>
            </a:r>
            <a:endParaRPr lang="en-US" sz="1150" dirty="0"/>
          </a:p>
        </p:txBody>
      </p:sp>
      <p:sp>
        <p:nvSpPr>
          <p:cNvPr id="24" name="Text 22"/>
          <p:cNvSpPr/>
          <p:nvPr/>
        </p:nvSpPr>
        <p:spPr>
          <a:xfrm>
            <a:off x="822960" y="4398264"/>
            <a:ext cx="7863840" cy="457200"/>
          </a:xfrm>
          <a:prstGeom prst="rect">
            <a:avLst/>
          </a:prstGeom>
          <a:noFill/>
          <a:ln/>
        </p:spPr>
        <p:txBody>
          <a:bodyPr wrap="square" rtlCol="0" anchor="ctr"/>
          <a:lstStyle/>
          <a:p>
            <a:pPr marL="0" indent="0">
              <a:buNone/>
            </a:pPr>
            <a:r>
              <a:rPr lang="en-US" sz="1000" i="1" dirty="0">
                <a:solidFill>
                  <a:srgbClr val="A8B8CC"/>
                </a:solidFill>
                <a:latin typeface="Calibri" pitchFamily="34" charset="0"/>
                <a:ea typeface="Calibri" pitchFamily="34" charset="-122"/>
                <a:cs typeface="Calibri" pitchFamily="34" charset="-120"/>
              </a:rPr>
              <a:t>→ Netflix explains how they intentionally break systems to find weaknesses. Shows how reliability is built proactively.</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00C9B1"/>
          </a:solidFill>
          <a:ln/>
        </p:spPr>
        <p:txBody>
          <a:bodyPr/>
          <a:lstStyle/>
          <a:p>
            <a:endParaRPr lang="en-US"/>
          </a:p>
        </p:txBody>
      </p:sp>
      <p:sp>
        <p:nvSpPr>
          <p:cNvPr id="3" name="Text 1"/>
          <p:cNvSpPr/>
          <p:nvPr/>
        </p:nvSpPr>
        <p:spPr>
          <a:xfrm>
            <a:off x="228600" y="1371600"/>
            <a:ext cx="2743200" cy="1828800"/>
          </a:xfrm>
          <a:prstGeom prst="rect">
            <a:avLst/>
          </a:prstGeom>
          <a:noFill/>
          <a:ln/>
        </p:spPr>
        <p:txBody>
          <a:bodyPr wrap="square" rtlCol="0" anchor="ctr"/>
          <a:lstStyle/>
          <a:p>
            <a:pPr marL="0" indent="0" algn="l">
              <a:buNone/>
            </a:pPr>
            <a:r>
              <a:rPr lang="en-US" sz="5400" b="1" dirty="0">
                <a:solidFill>
                  <a:srgbClr val="0D1B2A"/>
                </a:solidFill>
                <a:latin typeface="Calibri" pitchFamily="34" charset="0"/>
                <a:ea typeface="Calibri" pitchFamily="34" charset="-122"/>
                <a:cs typeface="Calibri" pitchFamily="34" charset="-120"/>
              </a:rPr>
              <a:t>Thank</a:t>
            </a:r>
            <a:endParaRPr lang="en-US" sz="5400" dirty="0"/>
          </a:p>
          <a:p>
            <a:pPr marL="0" indent="0" algn="l">
              <a:buNone/>
            </a:pPr>
            <a:r>
              <a:rPr lang="en-US" sz="5400" b="1" dirty="0">
                <a:solidFill>
                  <a:srgbClr val="0D1B2A"/>
                </a:solidFill>
                <a:latin typeface="Calibri" pitchFamily="34" charset="0"/>
                <a:ea typeface="Calibri" pitchFamily="34" charset="-122"/>
                <a:cs typeface="Calibri" pitchFamily="34" charset="-120"/>
              </a:rPr>
              <a:t>You</a:t>
            </a:r>
            <a:endParaRPr lang="en-US" sz="5400" dirty="0"/>
          </a:p>
        </p:txBody>
      </p:sp>
      <p:sp>
        <p:nvSpPr>
          <p:cNvPr id="4" name="Text 2"/>
          <p:cNvSpPr/>
          <p:nvPr/>
        </p:nvSpPr>
        <p:spPr>
          <a:xfrm>
            <a:off x="228600" y="3383280"/>
            <a:ext cx="2743200" cy="640080"/>
          </a:xfrm>
          <a:prstGeom prst="rect">
            <a:avLst/>
          </a:prstGeom>
          <a:noFill/>
          <a:ln/>
        </p:spPr>
        <p:txBody>
          <a:bodyPr wrap="square" rtlCol="0" anchor="ctr"/>
          <a:lstStyle/>
          <a:p>
            <a:pPr marL="0" indent="0">
              <a:buNone/>
            </a:pPr>
            <a:r>
              <a:rPr lang="en-US" sz="1300" i="1" dirty="0">
                <a:solidFill>
                  <a:srgbClr val="1A2E45"/>
                </a:solidFill>
                <a:latin typeface="Calibri" pitchFamily="34" charset="0"/>
                <a:ea typeface="Calibri" pitchFamily="34" charset="-122"/>
                <a:cs typeface="Calibri" pitchFamily="34" charset="-120"/>
              </a:rPr>
              <a:t>Questions from the audience are welcome.</a:t>
            </a:r>
            <a:endParaRPr lang="en-US" sz="1300" dirty="0"/>
          </a:p>
        </p:txBody>
      </p:sp>
      <p:sp>
        <p:nvSpPr>
          <p:cNvPr id="5" name="Text 3"/>
          <p:cNvSpPr/>
          <p:nvPr/>
        </p:nvSpPr>
        <p:spPr>
          <a:xfrm>
            <a:off x="3474720" y="640080"/>
            <a:ext cx="5303520" cy="502920"/>
          </a:xfrm>
          <a:prstGeom prst="rect">
            <a:avLst/>
          </a:prstGeom>
          <a:noFill/>
          <a:ln/>
        </p:spPr>
        <p:txBody>
          <a:bodyPr wrap="square" rtlCol="0" anchor="ctr"/>
          <a:lstStyle/>
          <a:p>
            <a:pPr marL="0" indent="0">
              <a:buNone/>
            </a:pPr>
            <a:r>
              <a:rPr lang="en-US" sz="2000" b="1" dirty="0">
                <a:solidFill>
                  <a:srgbClr val="00C9B1"/>
                </a:solidFill>
                <a:latin typeface="Calibri" pitchFamily="34" charset="0"/>
                <a:ea typeface="Calibri" pitchFamily="34" charset="-122"/>
                <a:cs typeface="Calibri" pitchFamily="34" charset="-120"/>
              </a:rPr>
              <a:t>Key Takeaways</a:t>
            </a:r>
            <a:endParaRPr lang="en-US" sz="2000" dirty="0"/>
          </a:p>
        </p:txBody>
      </p:sp>
      <p:sp>
        <p:nvSpPr>
          <p:cNvPr id="6" name="Text 4"/>
          <p:cNvSpPr/>
          <p:nvPr/>
        </p:nvSpPr>
        <p:spPr>
          <a:xfrm>
            <a:off x="3474720" y="1261872"/>
            <a:ext cx="5349240" cy="502920"/>
          </a:xfrm>
          <a:prstGeom prst="rect">
            <a:avLst/>
          </a:prstGeom>
          <a:noFill/>
          <a:ln/>
        </p:spPr>
        <p:txBody>
          <a:bodyPr wrap="square" rtlCol="0" anchor="ctr"/>
          <a:lstStyle/>
          <a:p>
            <a:pPr marL="0" indent="0">
              <a:buNone/>
            </a:pPr>
            <a:r>
              <a:rPr lang="en-US" sz="1200" b="1" dirty="0">
                <a:solidFill>
                  <a:srgbClr val="00C9B1"/>
                </a:solidFill>
                <a:latin typeface="Calibri" pitchFamily="34" charset="0"/>
                <a:ea typeface="Calibri" pitchFamily="34" charset="-122"/>
                <a:cs typeface="Calibri" pitchFamily="34" charset="-120"/>
              </a:rPr>
              <a:t>◆  </a:t>
            </a:r>
            <a:r>
              <a:rPr lang="en-US" sz="1200" dirty="0">
                <a:solidFill>
                  <a:srgbClr val="E8EDF3"/>
                </a:solidFill>
                <a:latin typeface="Calibri" pitchFamily="34" charset="0"/>
                <a:ea typeface="Calibri" pitchFamily="34" charset="-122"/>
                <a:cs typeface="Calibri" pitchFamily="34" charset="-120"/>
              </a:rPr>
              <a:t>DevOps is a cultural and technical shift — not a product to buy</a:t>
            </a:r>
            <a:endParaRPr lang="en-US" sz="1200" dirty="0"/>
          </a:p>
        </p:txBody>
      </p:sp>
      <p:sp>
        <p:nvSpPr>
          <p:cNvPr id="7" name="Text 5"/>
          <p:cNvSpPr/>
          <p:nvPr/>
        </p:nvSpPr>
        <p:spPr>
          <a:xfrm>
            <a:off x="3474720" y="1856232"/>
            <a:ext cx="5349240" cy="502920"/>
          </a:xfrm>
          <a:prstGeom prst="rect">
            <a:avLst/>
          </a:prstGeom>
          <a:noFill/>
          <a:ln/>
        </p:spPr>
        <p:txBody>
          <a:bodyPr wrap="square" rtlCol="0" anchor="ctr"/>
          <a:lstStyle/>
          <a:p>
            <a:pPr marL="0" indent="0">
              <a:buNone/>
            </a:pPr>
            <a:r>
              <a:rPr lang="en-US" sz="1200" b="1" dirty="0">
                <a:solidFill>
                  <a:srgbClr val="00C9B1"/>
                </a:solidFill>
                <a:latin typeface="Calibri" pitchFamily="34" charset="0"/>
                <a:ea typeface="Calibri" pitchFamily="34" charset="-122"/>
                <a:cs typeface="Calibri" pitchFamily="34" charset="-120"/>
              </a:rPr>
              <a:t>◆  </a:t>
            </a:r>
            <a:r>
              <a:rPr lang="en-US" sz="1200" dirty="0">
                <a:solidFill>
                  <a:srgbClr val="E8EDF3"/>
                </a:solidFill>
                <a:latin typeface="Calibri" pitchFamily="34" charset="0"/>
                <a:ea typeface="Calibri" pitchFamily="34" charset="-122"/>
                <a:cs typeface="Calibri" pitchFamily="34" charset="-120"/>
              </a:rPr>
              <a:t>Business pressures (speed, competition, failures) made it inevitable</a:t>
            </a:r>
            <a:endParaRPr lang="en-US" sz="1200" dirty="0"/>
          </a:p>
        </p:txBody>
      </p:sp>
      <p:sp>
        <p:nvSpPr>
          <p:cNvPr id="8" name="Text 6"/>
          <p:cNvSpPr/>
          <p:nvPr/>
        </p:nvSpPr>
        <p:spPr>
          <a:xfrm>
            <a:off x="3474720" y="2450592"/>
            <a:ext cx="5349240" cy="502920"/>
          </a:xfrm>
          <a:prstGeom prst="rect">
            <a:avLst/>
          </a:prstGeom>
          <a:noFill/>
          <a:ln/>
        </p:spPr>
        <p:txBody>
          <a:bodyPr wrap="square" rtlCol="0" anchor="ctr"/>
          <a:lstStyle/>
          <a:p>
            <a:pPr marL="0" indent="0">
              <a:buNone/>
            </a:pPr>
            <a:r>
              <a:rPr lang="en-US" sz="1200" b="1" dirty="0">
                <a:solidFill>
                  <a:srgbClr val="00C9B1"/>
                </a:solidFill>
                <a:latin typeface="Calibri" pitchFamily="34" charset="0"/>
                <a:ea typeface="Calibri" pitchFamily="34" charset="-122"/>
                <a:cs typeface="Calibri" pitchFamily="34" charset="-120"/>
              </a:rPr>
              <a:t>◆  </a:t>
            </a:r>
            <a:r>
              <a:rPr lang="en-US" sz="1200" dirty="0">
                <a:solidFill>
                  <a:srgbClr val="E8EDF3"/>
                </a:solidFill>
                <a:latin typeface="Calibri" pitchFamily="34" charset="0"/>
                <a:ea typeface="Calibri" pitchFamily="34" charset="-122"/>
                <a:cs typeface="Calibri" pitchFamily="34" charset="-120"/>
              </a:rPr>
              <a:t>CI/CD, automation, and teamwork are the key tools</a:t>
            </a:r>
            <a:endParaRPr lang="en-US" sz="1200" dirty="0"/>
          </a:p>
        </p:txBody>
      </p:sp>
      <p:sp>
        <p:nvSpPr>
          <p:cNvPr id="9" name="Text 7"/>
          <p:cNvSpPr/>
          <p:nvPr/>
        </p:nvSpPr>
        <p:spPr>
          <a:xfrm>
            <a:off x="3474720" y="3044952"/>
            <a:ext cx="5349240" cy="502920"/>
          </a:xfrm>
          <a:prstGeom prst="rect">
            <a:avLst/>
          </a:prstGeom>
          <a:noFill/>
          <a:ln/>
        </p:spPr>
        <p:txBody>
          <a:bodyPr wrap="square" rtlCol="0" anchor="ctr"/>
          <a:lstStyle/>
          <a:p>
            <a:pPr marL="0" indent="0">
              <a:buNone/>
            </a:pPr>
            <a:r>
              <a:rPr lang="en-US" sz="1200" b="1" dirty="0">
                <a:solidFill>
                  <a:srgbClr val="00C9B1"/>
                </a:solidFill>
                <a:latin typeface="Calibri" pitchFamily="34" charset="0"/>
                <a:ea typeface="Calibri" pitchFamily="34" charset="-122"/>
                <a:cs typeface="Calibri" pitchFamily="34" charset="-120"/>
              </a:rPr>
              <a:t>◆  </a:t>
            </a:r>
            <a:r>
              <a:rPr lang="en-US" sz="1200" dirty="0">
                <a:solidFill>
                  <a:srgbClr val="E8EDF3"/>
                </a:solidFill>
                <a:latin typeface="Calibri" pitchFamily="34" charset="0"/>
                <a:ea typeface="Calibri" pitchFamily="34" charset="-122"/>
                <a:cs typeface="Calibri" pitchFamily="34" charset="-120"/>
              </a:rPr>
              <a:t>Research shows top teams deploy 200× more often than slow teams</a:t>
            </a:r>
            <a:endParaRPr lang="en-US" sz="1200" dirty="0"/>
          </a:p>
        </p:txBody>
      </p:sp>
      <p:sp>
        <p:nvSpPr>
          <p:cNvPr id="10" name="Text 8"/>
          <p:cNvSpPr/>
          <p:nvPr/>
        </p:nvSpPr>
        <p:spPr>
          <a:xfrm>
            <a:off x="3474720" y="3639312"/>
            <a:ext cx="5349240" cy="502920"/>
          </a:xfrm>
          <a:prstGeom prst="rect">
            <a:avLst/>
          </a:prstGeom>
          <a:noFill/>
          <a:ln/>
        </p:spPr>
        <p:txBody>
          <a:bodyPr wrap="square" rtlCol="0" anchor="ctr"/>
          <a:lstStyle/>
          <a:p>
            <a:pPr marL="0" indent="0">
              <a:buNone/>
            </a:pPr>
            <a:r>
              <a:rPr lang="en-US" sz="1200" b="1" dirty="0">
                <a:solidFill>
                  <a:srgbClr val="00C9B1"/>
                </a:solidFill>
                <a:latin typeface="Calibri" pitchFamily="34" charset="0"/>
                <a:ea typeface="Calibri" pitchFamily="34" charset="-122"/>
                <a:cs typeface="Calibri" pitchFamily="34" charset="-120"/>
              </a:rPr>
              <a:t>◆  </a:t>
            </a:r>
            <a:r>
              <a:rPr lang="en-US" sz="1200" dirty="0">
                <a:solidFill>
                  <a:srgbClr val="E8EDF3"/>
                </a:solidFill>
                <a:latin typeface="Calibri" pitchFamily="34" charset="0"/>
                <a:ea typeface="Calibri" pitchFamily="34" charset="-122"/>
                <a:cs typeface="Calibri" pitchFamily="34" charset="-120"/>
              </a:rPr>
              <a:t>Netflix and Amazon credit DevOps for their success</a:t>
            </a:r>
            <a:endParaRPr lang="en-US" sz="1200" dirty="0"/>
          </a:p>
        </p:txBody>
      </p:sp>
      <p:sp>
        <p:nvSpPr>
          <p:cNvPr id="11" name="Text 9"/>
          <p:cNvSpPr/>
          <p:nvPr/>
        </p:nvSpPr>
        <p:spPr>
          <a:xfrm>
            <a:off x="3474720" y="4233672"/>
            <a:ext cx="5349240" cy="502920"/>
          </a:xfrm>
          <a:prstGeom prst="rect">
            <a:avLst/>
          </a:prstGeom>
          <a:noFill/>
          <a:ln/>
        </p:spPr>
        <p:txBody>
          <a:bodyPr wrap="square" rtlCol="0" anchor="ctr"/>
          <a:lstStyle/>
          <a:p>
            <a:pPr marL="0" indent="0">
              <a:buNone/>
            </a:pPr>
            <a:r>
              <a:rPr lang="en-US" sz="1200" b="1" dirty="0">
                <a:solidFill>
                  <a:srgbClr val="00C9B1"/>
                </a:solidFill>
                <a:latin typeface="Calibri" pitchFamily="34" charset="0"/>
                <a:ea typeface="Calibri" pitchFamily="34" charset="-122"/>
                <a:cs typeface="Calibri" pitchFamily="34" charset="-120"/>
              </a:rPr>
              <a:t>◆  </a:t>
            </a:r>
            <a:r>
              <a:rPr lang="en-US" sz="1200" dirty="0">
                <a:solidFill>
                  <a:srgbClr val="E8EDF3"/>
                </a:solidFill>
                <a:latin typeface="Calibri" pitchFamily="34" charset="0"/>
                <a:ea typeface="Calibri" pitchFamily="34" charset="-122"/>
                <a:cs typeface="Calibri" pitchFamily="34" charset="-120"/>
              </a:rPr>
              <a:t>When DevOps fails, it’s usually a culture problem, not a tool problem</a:t>
            </a:r>
            <a:endParaRPr lang="en-US" sz="1200" dirty="0"/>
          </a:p>
        </p:txBody>
      </p:sp>
      <p:sp>
        <p:nvSpPr>
          <p:cNvPr id="12" name="Shape 10"/>
          <p:cNvSpPr/>
          <p:nvPr/>
        </p:nvSpPr>
        <p:spPr>
          <a:xfrm>
            <a:off x="3474720" y="4663440"/>
            <a:ext cx="5349240" cy="365760"/>
          </a:xfrm>
          <a:prstGeom prst="rect">
            <a:avLst/>
          </a:prstGeom>
          <a:solidFill>
            <a:srgbClr val="1A2E45"/>
          </a:solidFill>
          <a:ln/>
        </p:spPr>
        <p:txBody>
          <a:bodyPr/>
          <a:lstStyle/>
          <a:p>
            <a:endParaRPr lang="en-US"/>
          </a:p>
        </p:txBody>
      </p:sp>
      <p:sp>
        <p:nvSpPr>
          <p:cNvPr id="13" name="Text 11"/>
          <p:cNvSpPr/>
          <p:nvPr/>
        </p:nvSpPr>
        <p:spPr>
          <a:xfrm>
            <a:off x="3566160" y="4709160"/>
            <a:ext cx="5166360" cy="274320"/>
          </a:xfrm>
          <a:prstGeom prst="rect">
            <a:avLst/>
          </a:prstGeom>
          <a:noFill/>
          <a:ln/>
        </p:spPr>
        <p:txBody>
          <a:bodyPr wrap="square" rtlCol="0" anchor="ctr"/>
          <a:lstStyle/>
          <a:p>
            <a:pPr marL="0" indent="0">
              <a:buNone/>
            </a:pPr>
            <a:r>
              <a:rPr lang="en-US" sz="1000" dirty="0">
                <a:solidFill>
                  <a:srgbClr val="A8B8CC"/>
                </a:solidFill>
                <a:latin typeface="Calibri" pitchFamily="34" charset="0"/>
                <a:ea typeface="Calibri" pitchFamily="34" charset="-122"/>
                <a:cs typeface="Calibri" pitchFamily="34" charset="-120"/>
              </a:rPr>
              <a:t>Business Need for DevOps  |  Assignment II</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348</TotalTime>
  <Words>1858</Words>
  <Application>Microsoft Macintosh PowerPoint</Application>
  <PresentationFormat>On-screen Show (16:9)</PresentationFormat>
  <Paragraphs>248</Paragraphs>
  <Slides>19</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Need for DevOps</dc:title>
  <dc:subject>PptxGenJS Presentation</dc:subject>
  <dc:creator>Group Presentation</dc:creator>
  <cp:lastModifiedBy>Uday Grover</cp:lastModifiedBy>
  <cp:revision>25</cp:revision>
  <dcterms:created xsi:type="dcterms:W3CDTF">2026-04-22T16:22:03Z</dcterms:created>
  <dcterms:modified xsi:type="dcterms:W3CDTF">2026-04-27T10:27:43Z</dcterms:modified>
</cp:coreProperties>
</file>